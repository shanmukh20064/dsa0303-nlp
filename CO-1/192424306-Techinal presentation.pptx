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95" r:id="rId10"/>
    <p:sldId id="294"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2" d="100"/>
          <a:sy n="62" d="100"/>
        </p:scale>
        <p:origin x="804"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8483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is about a Medical AI System for MRI Image Analysis, focusing on the role of computer vision, how MRI images are physically formed, and where these systems matter in real clinical practice. Over the next few minutes we will move from the basics of MRI and medical AI, through the computer vision pipeline and MRI image formation physics, into real disease-detection applications, the end-to-end system workflow, and finally the advantages and challenges of deploying such AI systems in hospitals.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MRI, or Magnetic Resonance Imaging, is a non-invasive scanning technique that uses strong magnetic fields and radio waves to create detailed images of soft tissue, making it especially valuable for brain and spinal imaging. Medical AI refers to software that applies machine learning and computer vision to interpret these images automatically. We use AI in MRI analysis because manual reading is slow and dependent on radiologist experience, and subtle abnormalities can be missed. The comparison on the right shows that traditional diagnosis relies entirely on manual visual reading, while AI-assisted diagnosis adds automated, consistent, and fast pattern detection that supports the doctor rather than replacing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vision is the branch of AI that allows a system to interpret visual data. In an MRI pipeline, the raw MRI image first goes through image acquisition, where the digital scan slices are captured. Preprocessing then removes noise and normalizes brightness and contrast. Segmentation isolates the organ or region of interest, such as the brain or a tumor boundary. Feature extraction identifies shapes, edges, and textures relevant to disease. The AI classification stage applies a trained model to these features, and finally the system outputs a disease detection result that supports the doctor's diagnosis. Each stage builds on the previous one to convert raw pixels into clinical insight. As a real-world reference, a 2025 arXiv study by Krolik and colleagues, titled MRI Brain Tumor Detection with Computer Vision, applied CNNs, ResNet, U-Net segmentation, and EfficientDet detection to this same style of pipeline and reported meaningful accuracy gains, reinforcing why each of these computer vision stages matters in practice.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MRI image formation starts with a strong magnetic field that aligns the spin of hydrogen atoms present throughout the body's water and fat. Next, radio frequency pulses are applied at a precise frequency, which knocks these aligned atoms out of equilibrium. As the atoms relax back to their original alignment, they emit faint radio signals, which are captured by receiver coils placed around the patient. Finally, a computer applies mathematical reconstruction techniques, such as the Fourier transform, to convert these raw signals into the detailed cross-sectional images radiologists and AI systems analyze. Importantly, MRI uses no ionizing radiation, unlike X-ray or 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Medical AI for MRI is applied across many areas of diagnosis. In brain tumor detection, AI locates and outlines tumor boundaries to help plan surgery or radiation therapy — a 2025 arXiv study by Krolik and colleagues confirms that CNNs, ResNet, U-Net segmentation, and EfficientDet detection meaningfully improve brain tumor diagnostic accuracy. In stroke cases, rapid detection of affected brain regions is critical because time lost directly affects patient outcomes. For Alzheimer's disease, AI tracks patterns of brain tissue atrophy over time. For multiple sclerosis, the system detects lesions in the brain and spinal cord. In orthopedics, MRI AI assesses joint, ligament and cartilage damage. And across oncology, AI supports early detection of tumors in soft tissue, which is often the single biggest factor in successful treatment.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complete workflow from start to finish. It begins with the patient being scanned by the MRI scanner, producing a raw MRI image. This falls under the data acquisition phase. The image then moves through computer vision processing: preprocessing, segmentation, and feature extraction, which clean and structure the raw pixel data. In the AI decision support phase, the trained AI model analyzes these features to predict disease presence, and the result is compiled into a report for the doctor. The doctor always remains the final decision-maker, using the AI output as a supporting tool rather than a replacement.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Medical AI systems for MRI bring clear advantages: faster diagnosis, high accuracy in pattern detection, the ability to catch disease at earlier stages, reduced human error from fatigue, and strong decision support for doctors. However, real-world deployment faces genuine challenges. These systems require large, high-quality labeled datasets to train effectively, demand significant computational resources, raise data privacy concerns since patient scans are highly sensitive, and — most importantly — AI cannot replace the clinical judgment, experience, and patient context that a doctor provides. AI should be seen as a powerful assistant, not an autonomous decision-maker.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computer vision transforms raw MRI scans into structured, analyzable data, while understanding image formation helps clarify exactly what the AI model is interpreting at the physical level. Together, these techniques enable faster, more accurate, and more consistent diagnosis across real applications including brain tumors, stroke, Alzheimer's disease, multiple sclerosis, orthopedic conditions, and cancer. The most important takeaway is that AI is designed to support doctors, not replace them — AI assists doctors in making better decisions, leading to improved patient care. Thank you.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BDD2B1-4BB0-65F7-5006-A630DFCE1416}"/>
              </a:ext>
            </a:extLst>
          </p:cNvPr>
          <p:cNvSpPr>
            <a:spLocks noGrp="1"/>
          </p:cNvSpPr>
          <p:nvPr>
            <p:ph type="dt" sz="half" idx="10"/>
          </p:nvPr>
        </p:nvSpPr>
        <p:spPr/>
        <p:txBody>
          <a:bodyPr/>
          <a:lstStyle/>
          <a:p>
            <a:fld id="{21B21881-4DBC-4BE6-911C-2E18D545A6C0}" type="datetimeFigureOut">
              <a:rPr lang="en-US" smtClean="0"/>
              <a:t>7/16/2026</a:t>
            </a:fld>
            <a:endParaRPr lang="en-US"/>
          </a:p>
        </p:txBody>
      </p:sp>
      <p:sp>
        <p:nvSpPr>
          <p:cNvPr id="3" name="Footer Placeholder 2">
            <a:extLst>
              <a:ext uri="{FF2B5EF4-FFF2-40B4-BE49-F238E27FC236}">
                <a16:creationId xmlns:a16="http://schemas.microsoft.com/office/drawing/2014/main" id="{14938503-CD93-EE61-8BA0-1D67248F89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117991-9F83-A27A-A670-5CA5FEDE6FB3}"/>
              </a:ext>
            </a:extLst>
          </p:cNvPr>
          <p:cNvSpPr>
            <a:spLocks noGrp="1"/>
          </p:cNvSpPr>
          <p:nvPr>
            <p:ph type="sldNum" sz="quarter" idx="12"/>
          </p:nvPr>
        </p:nvSpPr>
        <p:spPr/>
        <p:txBody>
          <a:bodyPr/>
          <a:lstStyle/>
          <a:p>
            <a:fld id="{1F415930-3471-42DD-A636-871D700FD4CA}" type="slidenum">
              <a:rPr lang="en-US" smtClean="0"/>
              <a:t>‹#›</a:t>
            </a:fld>
            <a:endParaRPr lang="en-US"/>
          </a:p>
        </p:txBody>
      </p:sp>
    </p:spTree>
    <p:extLst>
      <p:ext uri="{BB962C8B-B14F-4D97-AF65-F5344CB8AC3E}">
        <p14:creationId xmlns:p14="http://schemas.microsoft.com/office/powerpoint/2010/main" val="11200053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jpe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6.png"/><Relationship Id="rId5" Type="http://schemas.openxmlformats.org/officeDocument/2006/relationships/image" Target="../media/image12.png"/><Relationship Id="rId10" Type="http://schemas.openxmlformats.org/officeDocument/2006/relationships/image" Target="../media/image4.png"/><Relationship Id="rId4" Type="http://schemas.openxmlformats.org/officeDocument/2006/relationships/image" Target="../media/image1.pn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8.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6.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27.png"/><Relationship Id="rId5" Type="http://schemas.openxmlformats.org/officeDocument/2006/relationships/image" Target="../media/image8.png"/><Relationship Id="rId10" Type="http://schemas.openxmlformats.org/officeDocument/2006/relationships/image" Target="../media/image6.png"/><Relationship Id="rId4" Type="http://schemas.openxmlformats.org/officeDocument/2006/relationships/image" Target="../media/image1.png"/><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8.png"/><Relationship Id="rId7" Type="http://schemas.openxmlformats.org/officeDocument/2006/relationships/image" Target="../media/image15.png"/><Relationship Id="rId12"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2.png"/><Relationship Id="rId5" Type="http://schemas.openxmlformats.org/officeDocument/2006/relationships/image" Target="../media/image10.png"/><Relationship Id="rId10" Type="http://schemas.openxmlformats.org/officeDocument/2006/relationships/image" Target="../media/image32.png"/><Relationship Id="rId4" Type="http://schemas.openxmlformats.org/officeDocument/2006/relationships/image" Target="../media/image29.png"/><Relationship Id="rId9"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7818120" y="0"/>
            <a:ext cx="4370832" cy="6858000"/>
          </a:xfrm>
          <a:prstGeom prst="rect">
            <a:avLst/>
          </a:prstGeom>
          <a:solidFill>
            <a:srgbClr val="123A5C"/>
          </a:solidFill>
          <a:ln/>
        </p:spPr>
        <p:txBody>
          <a:bodyPr/>
          <a:lstStyle/>
          <a:p>
            <a:endParaRPr lang="en-US"/>
          </a:p>
        </p:txBody>
      </p:sp>
      <p:sp>
        <p:nvSpPr>
          <p:cNvPr id="4" name="Shape 1"/>
          <p:cNvSpPr/>
          <p:nvPr/>
        </p:nvSpPr>
        <p:spPr>
          <a:xfrm>
            <a:off x="8321040" y="5285232"/>
            <a:ext cx="603504" cy="603504"/>
          </a:xfrm>
          <a:prstGeom prst="ellipse">
            <a:avLst/>
          </a:prstGeom>
          <a:solidFill>
            <a:srgbClr val="0B4F8A"/>
          </a:solidFill>
          <a:ln w="12700">
            <a:solidFill>
              <a:srgbClr val="3E7FB0"/>
            </a:solidFill>
            <a:prstDash val="solid"/>
          </a:ln>
        </p:spPr>
        <p:txBody>
          <a:bodyPr/>
          <a:lstStyle/>
          <a:p>
            <a:endParaRPr lang="en-US"/>
          </a:p>
        </p:txBody>
      </p:sp>
      <p:pic>
        <p:nvPicPr>
          <p:cNvPr id="5" name="Image 1" descr="icons/scanner_white.png"/>
          <p:cNvPicPr>
            <a:picLocks noChangeAspect="1"/>
          </p:cNvPicPr>
          <p:nvPr/>
        </p:nvPicPr>
        <p:blipFill>
          <a:blip r:embed="rId3"/>
          <a:stretch>
            <a:fillRect/>
          </a:stretch>
        </p:blipFill>
        <p:spPr>
          <a:xfrm>
            <a:off x="8458200" y="5422392"/>
            <a:ext cx="329184" cy="329184"/>
          </a:xfrm>
          <a:prstGeom prst="rect">
            <a:avLst/>
          </a:prstGeom>
        </p:spPr>
      </p:pic>
      <p:sp>
        <p:nvSpPr>
          <p:cNvPr id="6" name="Shape 2"/>
          <p:cNvSpPr/>
          <p:nvPr/>
        </p:nvSpPr>
        <p:spPr>
          <a:xfrm>
            <a:off x="9464040" y="5285232"/>
            <a:ext cx="603504" cy="603504"/>
          </a:xfrm>
          <a:prstGeom prst="ellipse">
            <a:avLst/>
          </a:prstGeom>
          <a:solidFill>
            <a:srgbClr val="0B4F8A"/>
          </a:solidFill>
          <a:ln w="12700">
            <a:solidFill>
              <a:srgbClr val="3E7FB0"/>
            </a:solidFill>
            <a:prstDash val="solid"/>
          </a:ln>
        </p:spPr>
        <p:txBody>
          <a:bodyPr/>
          <a:lstStyle/>
          <a:p>
            <a:endParaRPr lang="en-US"/>
          </a:p>
        </p:txBody>
      </p:sp>
      <p:pic>
        <p:nvPicPr>
          <p:cNvPr id="7" name="Image 2" descr="icons/microchip_white.png"/>
          <p:cNvPicPr>
            <a:picLocks noChangeAspect="1"/>
          </p:cNvPicPr>
          <p:nvPr/>
        </p:nvPicPr>
        <p:blipFill>
          <a:blip r:embed="rId4"/>
          <a:stretch>
            <a:fillRect/>
          </a:stretch>
        </p:blipFill>
        <p:spPr>
          <a:xfrm>
            <a:off x="9601200" y="5422392"/>
            <a:ext cx="329184" cy="329184"/>
          </a:xfrm>
          <a:prstGeom prst="rect">
            <a:avLst/>
          </a:prstGeom>
        </p:spPr>
      </p:pic>
      <p:sp>
        <p:nvSpPr>
          <p:cNvPr id="8" name="Shape 3"/>
          <p:cNvSpPr/>
          <p:nvPr/>
        </p:nvSpPr>
        <p:spPr>
          <a:xfrm>
            <a:off x="10607040" y="5285232"/>
            <a:ext cx="603504" cy="603504"/>
          </a:xfrm>
          <a:prstGeom prst="ellipse">
            <a:avLst/>
          </a:prstGeom>
          <a:solidFill>
            <a:srgbClr val="0B4F8A"/>
          </a:solidFill>
          <a:ln w="12700">
            <a:solidFill>
              <a:srgbClr val="3E7FB0"/>
            </a:solidFill>
            <a:prstDash val="solid"/>
          </a:ln>
        </p:spPr>
        <p:txBody>
          <a:bodyPr/>
          <a:lstStyle/>
          <a:p>
            <a:endParaRPr lang="en-US"/>
          </a:p>
        </p:txBody>
      </p:sp>
      <p:pic>
        <p:nvPicPr>
          <p:cNvPr id="9" name="Image 3" descr="icons/hospital_white.png"/>
          <p:cNvPicPr>
            <a:picLocks noChangeAspect="1"/>
          </p:cNvPicPr>
          <p:nvPr/>
        </p:nvPicPr>
        <p:blipFill>
          <a:blip r:embed="rId5"/>
          <a:stretch>
            <a:fillRect/>
          </a:stretch>
        </p:blipFill>
        <p:spPr>
          <a:xfrm>
            <a:off x="10744200" y="5422392"/>
            <a:ext cx="329184" cy="329184"/>
          </a:xfrm>
          <a:prstGeom prst="rect">
            <a:avLst/>
          </a:prstGeom>
        </p:spPr>
      </p:pic>
      <p:sp>
        <p:nvSpPr>
          <p:cNvPr id="11" name="Text 5"/>
          <p:cNvSpPr/>
          <p:nvPr/>
        </p:nvSpPr>
        <p:spPr>
          <a:xfrm>
            <a:off x="457200" y="960120"/>
            <a:ext cx="7040880" cy="2057400"/>
          </a:xfrm>
          <a:prstGeom prst="rect">
            <a:avLst/>
          </a:prstGeom>
          <a:noFill/>
          <a:ln/>
        </p:spPr>
        <p:txBody>
          <a:bodyPr wrap="square" rtlCol="0" anchor="t"/>
          <a:lstStyle/>
          <a:p>
            <a:pPr marL="0" indent="0" algn="l">
              <a:lnSpc>
                <a:spcPct val="105000"/>
              </a:lnSpc>
              <a:buNone/>
            </a:pPr>
            <a:r>
              <a:rPr lang="en-US" sz="4600" b="1" dirty="0">
                <a:solidFill>
                  <a:srgbClr val="FFFFFF"/>
                </a:solidFill>
                <a:latin typeface="Times New Roman" pitchFamily="34" charset="0"/>
                <a:ea typeface="Times New Roman" pitchFamily="34" charset="-122"/>
                <a:cs typeface="Times New Roman" pitchFamily="34" charset="-120"/>
              </a:rPr>
              <a:t>Medical AI System for MRI Image Analysis</a:t>
            </a:r>
            <a:endParaRPr lang="en-US" sz="4600" dirty="0"/>
          </a:p>
        </p:txBody>
      </p:sp>
      <p:sp>
        <p:nvSpPr>
          <p:cNvPr id="12" name="Shape 6"/>
          <p:cNvSpPr/>
          <p:nvPr/>
        </p:nvSpPr>
        <p:spPr>
          <a:xfrm>
            <a:off x="777240" y="3152112"/>
            <a:ext cx="2377440" cy="0"/>
          </a:xfrm>
          <a:prstGeom prst="line">
            <a:avLst/>
          </a:prstGeom>
          <a:noFill/>
          <a:ln w="25400">
            <a:solidFill>
              <a:srgbClr val="3E7FB0"/>
            </a:solidFill>
            <a:prstDash val="solid"/>
          </a:ln>
        </p:spPr>
        <p:txBody>
          <a:bodyPr/>
          <a:lstStyle/>
          <a:p>
            <a:endParaRPr lang="en-US"/>
          </a:p>
        </p:txBody>
      </p:sp>
      <p:sp>
        <p:nvSpPr>
          <p:cNvPr id="13" name="Text 7"/>
          <p:cNvSpPr/>
          <p:nvPr/>
        </p:nvSpPr>
        <p:spPr>
          <a:xfrm>
            <a:off x="640080" y="3605982"/>
            <a:ext cx="6858000" cy="914400"/>
          </a:xfrm>
          <a:prstGeom prst="rect">
            <a:avLst/>
          </a:prstGeom>
          <a:noFill/>
          <a:ln/>
        </p:spPr>
        <p:txBody>
          <a:bodyPr wrap="square" rtlCol="0" anchor="ctr"/>
          <a:lstStyle/>
          <a:p>
            <a:pPr marL="0" indent="0">
              <a:buNone/>
            </a:pPr>
            <a:r>
              <a:rPr lang="en-US" sz="1900" i="1" dirty="0">
                <a:solidFill>
                  <a:srgbClr val="C7D6E2"/>
                </a:solidFill>
                <a:latin typeface="Times New Roman" pitchFamily="34" charset="0"/>
                <a:ea typeface="Times New Roman" pitchFamily="34" charset="-122"/>
                <a:cs typeface="Times New Roman" pitchFamily="34" charset="-120"/>
              </a:rPr>
              <a:t>Role of Computer Vision, Image Formation, and Application Relevance</a:t>
            </a:r>
            <a:endParaRPr lang="en-US" sz="1900" dirty="0"/>
          </a:p>
        </p:txBody>
      </p:sp>
      <p:sp>
        <p:nvSpPr>
          <p:cNvPr id="14" name="Shape 8"/>
          <p:cNvSpPr/>
          <p:nvPr/>
        </p:nvSpPr>
        <p:spPr>
          <a:xfrm>
            <a:off x="640080" y="4837176"/>
            <a:ext cx="2240280" cy="603504"/>
          </a:xfrm>
          <a:prstGeom prst="roundRect">
            <a:avLst>
              <a:gd name="adj" fmla="val 18182"/>
            </a:avLst>
          </a:prstGeom>
          <a:solidFill>
            <a:srgbClr val="0F3352"/>
          </a:solidFill>
          <a:ln w="12700">
            <a:solidFill>
              <a:srgbClr val="1E5077"/>
            </a:solidFill>
            <a:prstDash val="solid"/>
          </a:ln>
        </p:spPr>
        <p:txBody>
          <a:bodyPr/>
          <a:lstStyle/>
          <a:p>
            <a:endParaRPr lang="en-US"/>
          </a:p>
        </p:txBody>
      </p:sp>
      <p:pic>
        <p:nvPicPr>
          <p:cNvPr id="15" name="Image 4" descr="icons/eye_white.png"/>
          <p:cNvPicPr>
            <a:picLocks noChangeAspect="1"/>
          </p:cNvPicPr>
          <p:nvPr/>
        </p:nvPicPr>
        <p:blipFill>
          <a:blip r:embed="rId6"/>
          <a:stretch>
            <a:fillRect/>
          </a:stretch>
        </p:blipFill>
        <p:spPr>
          <a:xfrm>
            <a:off x="777240" y="4974336"/>
            <a:ext cx="310896" cy="310896"/>
          </a:xfrm>
          <a:prstGeom prst="rect">
            <a:avLst/>
          </a:prstGeom>
        </p:spPr>
      </p:pic>
      <p:sp>
        <p:nvSpPr>
          <p:cNvPr id="16" name="Text 9"/>
          <p:cNvSpPr/>
          <p:nvPr/>
        </p:nvSpPr>
        <p:spPr>
          <a:xfrm>
            <a:off x="1129284" y="4792114"/>
            <a:ext cx="1673352" cy="603504"/>
          </a:xfrm>
          <a:prstGeom prst="rect">
            <a:avLst/>
          </a:prstGeom>
          <a:noFill/>
          <a:ln/>
        </p:spPr>
        <p:txBody>
          <a:bodyPr wrap="square" rtlCol="0" anchor="ctr"/>
          <a:lstStyle/>
          <a:p>
            <a:pPr marL="0" indent="0">
              <a:buNone/>
            </a:pPr>
            <a:r>
              <a:rPr lang="en-US" sz="1350" dirty="0">
                <a:solidFill>
                  <a:srgbClr val="FFFFFF"/>
                </a:solidFill>
                <a:latin typeface="Times New Roman" pitchFamily="34" charset="0"/>
                <a:ea typeface="Times New Roman" pitchFamily="34" charset="-122"/>
                <a:cs typeface="Times New Roman" pitchFamily="34" charset="-120"/>
              </a:rPr>
              <a:t>Computer Vision</a:t>
            </a:r>
            <a:endParaRPr lang="en-US" sz="1350" dirty="0"/>
          </a:p>
        </p:txBody>
      </p:sp>
      <p:sp>
        <p:nvSpPr>
          <p:cNvPr id="17" name="Shape 10"/>
          <p:cNvSpPr/>
          <p:nvPr/>
        </p:nvSpPr>
        <p:spPr>
          <a:xfrm>
            <a:off x="3049524" y="5003228"/>
            <a:ext cx="2240280" cy="603504"/>
          </a:xfrm>
          <a:prstGeom prst="roundRect">
            <a:avLst>
              <a:gd name="adj" fmla="val 18182"/>
            </a:avLst>
          </a:prstGeom>
          <a:solidFill>
            <a:srgbClr val="0F3352"/>
          </a:solidFill>
          <a:ln w="12700">
            <a:solidFill>
              <a:srgbClr val="1E5077"/>
            </a:solidFill>
            <a:prstDash val="solid"/>
          </a:ln>
        </p:spPr>
        <p:txBody>
          <a:bodyPr/>
          <a:lstStyle/>
          <a:p>
            <a:endParaRPr lang="en-US" dirty="0"/>
          </a:p>
        </p:txBody>
      </p:sp>
      <p:pic>
        <p:nvPicPr>
          <p:cNvPr id="18" name="Image 5" descr="icons/magnet_white.png"/>
          <p:cNvPicPr>
            <a:picLocks noChangeAspect="1"/>
          </p:cNvPicPr>
          <p:nvPr/>
        </p:nvPicPr>
        <p:blipFill>
          <a:blip r:embed="rId7"/>
          <a:stretch>
            <a:fillRect/>
          </a:stretch>
        </p:blipFill>
        <p:spPr>
          <a:xfrm>
            <a:off x="3305556" y="5139791"/>
            <a:ext cx="310896" cy="310896"/>
          </a:xfrm>
          <a:prstGeom prst="rect">
            <a:avLst/>
          </a:prstGeom>
        </p:spPr>
      </p:pic>
      <p:sp>
        <p:nvSpPr>
          <p:cNvPr id="19" name="Text 11"/>
          <p:cNvSpPr/>
          <p:nvPr/>
        </p:nvSpPr>
        <p:spPr>
          <a:xfrm>
            <a:off x="3712464" y="4993487"/>
            <a:ext cx="1673352" cy="603504"/>
          </a:xfrm>
          <a:prstGeom prst="rect">
            <a:avLst/>
          </a:prstGeom>
          <a:noFill/>
          <a:ln/>
        </p:spPr>
        <p:txBody>
          <a:bodyPr wrap="square" rtlCol="0" anchor="ctr"/>
          <a:lstStyle/>
          <a:p>
            <a:pPr marL="0" indent="0">
              <a:buNone/>
            </a:pPr>
            <a:r>
              <a:rPr lang="en-US" sz="1350" dirty="0">
                <a:solidFill>
                  <a:srgbClr val="FFFFFF"/>
                </a:solidFill>
                <a:latin typeface="Times New Roman" pitchFamily="34" charset="0"/>
                <a:ea typeface="Times New Roman" pitchFamily="34" charset="-122"/>
                <a:cs typeface="Times New Roman" pitchFamily="34" charset="-120"/>
              </a:rPr>
              <a:t>Image Formation</a:t>
            </a:r>
            <a:endParaRPr lang="en-US" sz="1350" dirty="0"/>
          </a:p>
        </p:txBody>
      </p:sp>
      <p:sp>
        <p:nvSpPr>
          <p:cNvPr id="20" name="Shape 12"/>
          <p:cNvSpPr/>
          <p:nvPr/>
        </p:nvSpPr>
        <p:spPr>
          <a:xfrm>
            <a:off x="5440732" y="5449824"/>
            <a:ext cx="2295144" cy="603504"/>
          </a:xfrm>
          <a:prstGeom prst="roundRect">
            <a:avLst>
              <a:gd name="adj" fmla="val 18182"/>
            </a:avLst>
          </a:prstGeom>
          <a:solidFill>
            <a:srgbClr val="0F3352"/>
          </a:solidFill>
          <a:ln w="12700">
            <a:solidFill>
              <a:srgbClr val="1E5077"/>
            </a:solidFill>
            <a:prstDash val="solid"/>
          </a:ln>
        </p:spPr>
        <p:txBody>
          <a:bodyPr/>
          <a:lstStyle/>
          <a:p>
            <a:endParaRPr lang="en-US"/>
          </a:p>
        </p:txBody>
      </p:sp>
      <p:pic>
        <p:nvPicPr>
          <p:cNvPr id="21" name="Image 6" descr="icons/chart_white.png"/>
          <p:cNvPicPr>
            <a:picLocks noChangeAspect="1"/>
          </p:cNvPicPr>
          <p:nvPr/>
        </p:nvPicPr>
        <p:blipFill>
          <a:blip r:embed="rId8"/>
          <a:stretch>
            <a:fillRect/>
          </a:stretch>
        </p:blipFill>
        <p:spPr>
          <a:xfrm>
            <a:off x="5660136" y="5586984"/>
            <a:ext cx="310896" cy="310896"/>
          </a:xfrm>
          <a:prstGeom prst="rect">
            <a:avLst/>
          </a:prstGeom>
        </p:spPr>
      </p:pic>
      <p:sp>
        <p:nvSpPr>
          <p:cNvPr id="22" name="Text 13"/>
          <p:cNvSpPr/>
          <p:nvPr/>
        </p:nvSpPr>
        <p:spPr>
          <a:xfrm>
            <a:off x="6053328" y="5440680"/>
            <a:ext cx="2276856" cy="603504"/>
          </a:xfrm>
          <a:prstGeom prst="rect">
            <a:avLst/>
          </a:prstGeom>
          <a:noFill/>
          <a:ln/>
        </p:spPr>
        <p:txBody>
          <a:bodyPr wrap="square" rtlCol="0" anchor="ctr"/>
          <a:lstStyle/>
          <a:p>
            <a:pPr marL="0" indent="0">
              <a:buNone/>
            </a:pPr>
            <a:r>
              <a:rPr lang="en-US" sz="1350" dirty="0">
                <a:solidFill>
                  <a:srgbClr val="FFFFFF"/>
                </a:solidFill>
                <a:latin typeface="Times New Roman" pitchFamily="34" charset="0"/>
                <a:ea typeface="Times New Roman" pitchFamily="34" charset="-122"/>
                <a:cs typeface="Times New Roman" pitchFamily="34" charset="-120"/>
              </a:rPr>
              <a:t>Clinical Applications</a:t>
            </a:r>
            <a:endParaRPr lang="en-US" sz="1350" dirty="0"/>
          </a:p>
        </p:txBody>
      </p:sp>
      <p:sp>
        <p:nvSpPr>
          <p:cNvPr id="23" name="TextBox 22">
            <a:extLst>
              <a:ext uri="{FF2B5EF4-FFF2-40B4-BE49-F238E27FC236}">
                <a16:creationId xmlns:a16="http://schemas.microsoft.com/office/drawing/2014/main" id="{512ABF0C-ADF1-B135-4550-474DE3EA02B1}"/>
              </a:ext>
            </a:extLst>
          </p:cNvPr>
          <p:cNvSpPr txBox="1"/>
          <p:nvPr/>
        </p:nvSpPr>
        <p:spPr>
          <a:xfrm>
            <a:off x="8193076" y="5934670"/>
            <a:ext cx="2615184" cy="923330"/>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Presented by:</a:t>
            </a:r>
            <a:br>
              <a:rPr lang="en-US" dirty="0">
                <a:solidFill>
                  <a:schemeClr val="bg1"/>
                </a:solidFill>
                <a:latin typeface="Times New Roman" panose="02020603050405020304" pitchFamily="18" charset="0"/>
                <a:cs typeface="Times New Roman" panose="02020603050405020304" pitchFamily="18" charset="0"/>
              </a:rPr>
            </a:br>
            <a:r>
              <a:rPr lang="en-US" dirty="0">
                <a:solidFill>
                  <a:schemeClr val="bg1"/>
                </a:solidFill>
                <a:latin typeface="Times New Roman" panose="02020603050405020304" pitchFamily="18" charset="0"/>
                <a:cs typeface="Times New Roman" panose="02020603050405020304" pitchFamily="18" charset="0"/>
              </a:rPr>
              <a:t>K. V. Sai. Shanmukh</a:t>
            </a:r>
            <a:br>
              <a:rPr lang="en-US" dirty="0">
                <a:solidFill>
                  <a:schemeClr val="bg1"/>
                </a:solidFill>
                <a:latin typeface="Times New Roman" panose="02020603050405020304" pitchFamily="18" charset="0"/>
                <a:cs typeface="Times New Roman" panose="02020603050405020304" pitchFamily="18" charset="0"/>
              </a:rPr>
            </a:br>
            <a:r>
              <a:rPr lang="en-US" dirty="0">
                <a:solidFill>
                  <a:schemeClr val="bg1"/>
                </a:solidFill>
                <a:latin typeface="Times New Roman" panose="02020603050405020304" pitchFamily="18" charset="0"/>
                <a:cs typeface="Times New Roman" panose="02020603050405020304" pitchFamily="18" charset="0"/>
              </a:rPr>
              <a:t>192424306</a:t>
            </a:r>
          </a:p>
        </p:txBody>
      </p:sp>
      <p:pic>
        <p:nvPicPr>
          <p:cNvPr id="25" name="Picture 24" descr="Forest Plot Interpretation — Explain Medical Figures with AI | LancetClaw">
            <a:extLst>
              <a:ext uri="{FF2B5EF4-FFF2-40B4-BE49-F238E27FC236}">
                <a16:creationId xmlns:a16="http://schemas.microsoft.com/office/drawing/2014/main" id="{F06BC178-E159-C7BC-E645-E7E350FEFFB0}"/>
              </a:ext>
            </a:extLst>
          </p:cNvPr>
          <p:cNvPicPr>
            <a:picLocks noChangeAspect="1"/>
          </p:cNvPicPr>
          <p:nvPr/>
        </p:nvPicPr>
        <p:blipFill>
          <a:blip r:embed="rId9"/>
          <a:srcRect t="22588" b="15205"/>
          <a:stretch>
            <a:fillRect/>
          </a:stretch>
        </p:blipFill>
        <p:spPr>
          <a:xfrm>
            <a:off x="7897013" y="1106424"/>
            <a:ext cx="4226814" cy="3710862"/>
          </a:xfrm>
          <a:prstGeom prst="rect">
            <a:avLst/>
          </a:prstGeom>
          <a:ln>
            <a:solidFill>
              <a:schemeClr val="bg1"/>
            </a:solid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594360"/>
          </a:xfrm>
          <a:prstGeom prst="rect">
            <a:avLst/>
          </a:prstGeom>
          <a:noFill/>
          <a:ln/>
        </p:spPr>
        <p:txBody>
          <a:bodyPr wrap="square" rtlCol="0" anchor="ctr"/>
          <a:lstStyle/>
          <a:p>
            <a:pPr marL="0" indent="0">
              <a:buNone/>
            </a:pPr>
            <a:r>
              <a:rPr lang="en-US" sz="3400" b="1" dirty="0">
                <a:solidFill>
                  <a:srgbClr val="0A2540"/>
                </a:solidFill>
                <a:latin typeface="Times New Roman" pitchFamily="34" charset="0"/>
                <a:ea typeface="Times New Roman" pitchFamily="34" charset="-122"/>
                <a:cs typeface="Times New Roman" pitchFamily="34" charset="-120"/>
              </a:rPr>
              <a:t>Introduction</a:t>
            </a:r>
            <a:endParaRPr lang="en-US" sz="3400" dirty="0"/>
          </a:p>
        </p:txBody>
      </p:sp>
      <p:sp>
        <p:nvSpPr>
          <p:cNvPr id="3" name="Text 1"/>
          <p:cNvSpPr/>
          <p:nvPr/>
        </p:nvSpPr>
        <p:spPr>
          <a:xfrm>
            <a:off x="548640" y="932688"/>
            <a:ext cx="7315200" cy="347472"/>
          </a:xfrm>
          <a:prstGeom prst="rect">
            <a:avLst/>
          </a:prstGeom>
          <a:noFill/>
          <a:ln/>
        </p:spPr>
        <p:txBody>
          <a:bodyPr wrap="square" rtlCol="0" anchor="ctr"/>
          <a:lstStyle/>
          <a:p>
            <a:pPr marL="0" indent="0">
              <a:buNone/>
            </a:pPr>
            <a:r>
              <a:rPr lang="en-US" sz="1500" i="1" dirty="0">
                <a:solidFill>
                  <a:srgbClr val="374856"/>
                </a:solidFill>
                <a:latin typeface="Times New Roman" pitchFamily="34" charset="0"/>
                <a:ea typeface="Times New Roman" pitchFamily="34" charset="-122"/>
                <a:cs typeface="Times New Roman" pitchFamily="34" charset="-120"/>
              </a:rPr>
              <a:t>Understanding MRI and the role of Artificial Intelligence</a:t>
            </a:r>
            <a:endParaRPr lang="en-US" sz="1500" dirty="0"/>
          </a:p>
        </p:txBody>
      </p:sp>
      <p:sp>
        <p:nvSpPr>
          <p:cNvPr id="4" name="Shape 2"/>
          <p:cNvSpPr/>
          <p:nvPr/>
        </p:nvSpPr>
        <p:spPr>
          <a:xfrm>
            <a:off x="548640" y="1481328"/>
            <a:ext cx="603504" cy="603504"/>
          </a:xfrm>
          <a:prstGeom prst="ellipse">
            <a:avLst/>
          </a:prstGeom>
          <a:solidFill>
            <a:srgbClr val="0B4F8A"/>
          </a:solidFill>
          <a:ln/>
        </p:spPr>
        <p:txBody>
          <a:bodyPr/>
          <a:lstStyle/>
          <a:p>
            <a:endParaRPr lang="en-US"/>
          </a:p>
        </p:txBody>
      </p:sp>
      <p:pic>
        <p:nvPicPr>
          <p:cNvPr id="5" name="Image 0" descr="icons/mri_white.png"/>
          <p:cNvPicPr>
            <a:picLocks noChangeAspect="1"/>
          </p:cNvPicPr>
          <p:nvPr/>
        </p:nvPicPr>
        <p:blipFill>
          <a:blip r:embed="rId3"/>
          <a:stretch>
            <a:fillRect/>
          </a:stretch>
        </p:blipFill>
        <p:spPr>
          <a:xfrm>
            <a:off x="662940" y="1602512"/>
            <a:ext cx="374904" cy="374904"/>
          </a:xfrm>
          <a:prstGeom prst="rect">
            <a:avLst/>
          </a:prstGeom>
        </p:spPr>
      </p:pic>
      <p:sp>
        <p:nvSpPr>
          <p:cNvPr id="6" name="Text 3"/>
          <p:cNvSpPr/>
          <p:nvPr/>
        </p:nvSpPr>
        <p:spPr>
          <a:xfrm>
            <a:off x="1325880" y="1444752"/>
            <a:ext cx="5577840" cy="347472"/>
          </a:xfrm>
          <a:prstGeom prst="rect">
            <a:avLst/>
          </a:prstGeom>
          <a:noFill/>
          <a:ln/>
        </p:spPr>
        <p:txBody>
          <a:bodyPr wrap="square" rtlCol="0" anchor="ctr"/>
          <a:lstStyle/>
          <a:p>
            <a:pPr marL="0" indent="0">
              <a:buNone/>
            </a:pPr>
            <a:r>
              <a:rPr lang="en-US" sz="1700" b="1" dirty="0">
                <a:solidFill>
                  <a:srgbClr val="0A2540"/>
                </a:solidFill>
                <a:latin typeface="Times New Roman" pitchFamily="34" charset="0"/>
                <a:ea typeface="Times New Roman" pitchFamily="34" charset="-122"/>
                <a:cs typeface="Times New Roman" pitchFamily="34" charset="-120"/>
              </a:rPr>
              <a:t>What is MRI?</a:t>
            </a:r>
            <a:endParaRPr lang="en-US" sz="1700" dirty="0"/>
          </a:p>
        </p:txBody>
      </p:sp>
      <p:sp>
        <p:nvSpPr>
          <p:cNvPr id="7" name="Text 4"/>
          <p:cNvSpPr/>
          <p:nvPr/>
        </p:nvSpPr>
        <p:spPr>
          <a:xfrm>
            <a:off x="1325880" y="1810512"/>
            <a:ext cx="5669280" cy="868680"/>
          </a:xfrm>
          <a:prstGeom prst="rect">
            <a:avLst/>
          </a:prstGeom>
          <a:noFill/>
          <a:ln/>
        </p:spPr>
        <p:txBody>
          <a:bodyPr wrap="square" rtlCol="0" anchor="ctr"/>
          <a:lstStyle/>
          <a:p>
            <a:pPr marL="0" indent="0">
              <a:lnSpc>
                <a:spcPct val="115000"/>
              </a:lnSpc>
              <a:buNone/>
            </a:pPr>
            <a:r>
              <a:rPr lang="en-US" sz="1300" dirty="0">
                <a:solidFill>
                  <a:srgbClr val="374856"/>
                </a:solidFill>
                <a:latin typeface="Times New Roman" pitchFamily="34" charset="0"/>
                <a:ea typeface="Times New Roman" pitchFamily="34" charset="-122"/>
                <a:cs typeface="Times New Roman" pitchFamily="34" charset="-120"/>
              </a:rPr>
              <a:t>A non-invasive imaging technique that uses magnetic fields and radio waves to produce detailed images of internal organs and tissues, especially soft tissue like the brain.</a:t>
            </a:r>
            <a:endParaRPr lang="en-US" sz="1300" dirty="0"/>
          </a:p>
        </p:txBody>
      </p:sp>
      <p:sp>
        <p:nvSpPr>
          <p:cNvPr id="8" name="Shape 5"/>
          <p:cNvSpPr/>
          <p:nvPr/>
        </p:nvSpPr>
        <p:spPr>
          <a:xfrm>
            <a:off x="548640" y="3054096"/>
            <a:ext cx="603504" cy="603504"/>
          </a:xfrm>
          <a:prstGeom prst="ellipse">
            <a:avLst/>
          </a:prstGeom>
          <a:solidFill>
            <a:srgbClr val="0B4F8A"/>
          </a:solidFill>
          <a:ln/>
        </p:spPr>
        <p:txBody>
          <a:bodyPr/>
          <a:lstStyle/>
          <a:p>
            <a:endParaRPr lang="en-US"/>
          </a:p>
        </p:txBody>
      </p:sp>
      <p:pic>
        <p:nvPicPr>
          <p:cNvPr id="9" name="Image 1" descr="icons/robot_white.png"/>
          <p:cNvPicPr>
            <a:picLocks noChangeAspect="1"/>
          </p:cNvPicPr>
          <p:nvPr/>
        </p:nvPicPr>
        <p:blipFill>
          <a:blip r:embed="rId4"/>
          <a:stretch>
            <a:fillRect/>
          </a:stretch>
        </p:blipFill>
        <p:spPr>
          <a:xfrm>
            <a:off x="649224" y="3158744"/>
            <a:ext cx="402336" cy="402336"/>
          </a:xfrm>
          <a:prstGeom prst="rect">
            <a:avLst/>
          </a:prstGeom>
        </p:spPr>
      </p:pic>
      <p:sp>
        <p:nvSpPr>
          <p:cNvPr id="10" name="Text 6"/>
          <p:cNvSpPr/>
          <p:nvPr/>
        </p:nvSpPr>
        <p:spPr>
          <a:xfrm>
            <a:off x="1325880" y="3017520"/>
            <a:ext cx="5577840" cy="347472"/>
          </a:xfrm>
          <a:prstGeom prst="rect">
            <a:avLst/>
          </a:prstGeom>
          <a:noFill/>
          <a:ln/>
        </p:spPr>
        <p:txBody>
          <a:bodyPr wrap="square" rtlCol="0" anchor="ctr"/>
          <a:lstStyle/>
          <a:p>
            <a:pPr marL="0" indent="0">
              <a:buNone/>
            </a:pPr>
            <a:r>
              <a:rPr lang="en-US" sz="1700" b="1" dirty="0">
                <a:solidFill>
                  <a:srgbClr val="0A2540"/>
                </a:solidFill>
                <a:latin typeface="Times New Roman" pitchFamily="34" charset="0"/>
                <a:ea typeface="Times New Roman" pitchFamily="34" charset="-122"/>
                <a:cs typeface="Times New Roman" pitchFamily="34" charset="-120"/>
              </a:rPr>
              <a:t>What is Medical AI?</a:t>
            </a:r>
            <a:endParaRPr lang="en-US" sz="1700" dirty="0"/>
          </a:p>
        </p:txBody>
      </p:sp>
      <p:sp>
        <p:nvSpPr>
          <p:cNvPr id="11" name="Text 7"/>
          <p:cNvSpPr/>
          <p:nvPr/>
        </p:nvSpPr>
        <p:spPr>
          <a:xfrm>
            <a:off x="1325880" y="3383280"/>
            <a:ext cx="5669280" cy="868680"/>
          </a:xfrm>
          <a:prstGeom prst="rect">
            <a:avLst/>
          </a:prstGeom>
          <a:noFill/>
          <a:ln/>
        </p:spPr>
        <p:txBody>
          <a:bodyPr wrap="square" rtlCol="0" anchor="ctr"/>
          <a:lstStyle/>
          <a:p>
            <a:pPr marL="0" indent="0">
              <a:lnSpc>
                <a:spcPct val="115000"/>
              </a:lnSpc>
              <a:buNone/>
            </a:pPr>
            <a:r>
              <a:rPr lang="en-US" sz="1300" dirty="0">
                <a:solidFill>
                  <a:srgbClr val="374856"/>
                </a:solidFill>
                <a:latin typeface="Times New Roman" pitchFamily="34" charset="0"/>
                <a:ea typeface="Times New Roman" pitchFamily="34" charset="-122"/>
                <a:cs typeface="Times New Roman" pitchFamily="34" charset="-120"/>
              </a:rPr>
              <a:t>Software systems that use machine learning and computer vision to analyze medical images, detect patterns, and support clinical decision-making.</a:t>
            </a:r>
            <a:endParaRPr lang="en-US" sz="1300" dirty="0"/>
          </a:p>
        </p:txBody>
      </p:sp>
      <p:sp>
        <p:nvSpPr>
          <p:cNvPr id="12" name="Shape 8"/>
          <p:cNvSpPr/>
          <p:nvPr/>
        </p:nvSpPr>
        <p:spPr>
          <a:xfrm>
            <a:off x="548640" y="4626864"/>
            <a:ext cx="603504" cy="603504"/>
          </a:xfrm>
          <a:prstGeom prst="ellipse">
            <a:avLst/>
          </a:prstGeom>
          <a:solidFill>
            <a:srgbClr val="0B4F8A"/>
          </a:solidFill>
          <a:ln/>
        </p:spPr>
        <p:txBody>
          <a:bodyPr/>
          <a:lstStyle/>
          <a:p>
            <a:endParaRPr lang="en-US"/>
          </a:p>
        </p:txBody>
      </p:sp>
      <p:pic>
        <p:nvPicPr>
          <p:cNvPr id="13" name="Image 2" descr="icons/target_white.png"/>
          <p:cNvPicPr>
            <a:picLocks noChangeAspect="1"/>
          </p:cNvPicPr>
          <p:nvPr/>
        </p:nvPicPr>
        <p:blipFill>
          <a:blip r:embed="rId5"/>
          <a:stretch>
            <a:fillRect/>
          </a:stretch>
        </p:blipFill>
        <p:spPr>
          <a:xfrm>
            <a:off x="662940" y="4752594"/>
            <a:ext cx="340614" cy="340614"/>
          </a:xfrm>
          <a:prstGeom prst="rect">
            <a:avLst/>
          </a:prstGeom>
        </p:spPr>
      </p:pic>
      <p:sp>
        <p:nvSpPr>
          <p:cNvPr id="14" name="Text 9"/>
          <p:cNvSpPr/>
          <p:nvPr/>
        </p:nvSpPr>
        <p:spPr>
          <a:xfrm>
            <a:off x="1325880" y="4590288"/>
            <a:ext cx="5577840" cy="347472"/>
          </a:xfrm>
          <a:prstGeom prst="rect">
            <a:avLst/>
          </a:prstGeom>
          <a:noFill/>
          <a:ln/>
        </p:spPr>
        <p:txBody>
          <a:bodyPr wrap="square" rtlCol="0" anchor="ctr"/>
          <a:lstStyle/>
          <a:p>
            <a:pPr marL="0" indent="0">
              <a:buNone/>
            </a:pPr>
            <a:r>
              <a:rPr lang="en-US" sz="1700" b="1" dirty="0">
                <a:solidFill>
                  <a:srgbClr val="0A2540"/>
                </a:solidFill>
                <a:latin typeface="Times New Roman" pitchFamily="34" charset="0"/>
                <a:ea typeface="Times New Roman" pitchFamily="34" charset="-122"/>
                <a:cs typeface="Times New Roman" pitchFamily="34" charset="-120"/>
              </a:rPr>
              <a:t>Why AI in MRI Analysis?</a:t>
            </a:r>
            <a:endParaRPr lang="en-US" sz="1700" dirty="0"/>
          </a:p>
        </p:txBody>
      </p:sp>
      <p:sp>
        <p:nvSpPr>
          <p:cNvPr id="15" name="Text 10"/>
          <p:cNvSpPr/>
          <p:nvPr/>
        </p:nvSpPr>
        <p:spPr>
          <a:xfrm>
            <a:off x="1325880" y="4956048"/>
            <a:ext cx="5669280" cy="868680"/>
          </a:xfrm>
          <a:prstGeom prst="rect">
            <a:avLst/>
          </a:prstGeom>
          <a:noFill/>
          <a:ln/>
        </p:spPr>
        <p:txBody>
          <a:bodyPr wrap="square" rtlCol="0" anchor="ctr"/>
          <a:lstStyle/>
          <a:p>
            <a:pPr marL="0" indent="0">
              <a:lnSpc>
                <a:spcPct val="115000"/>
              </a:lnSpc>
              <a:buNone/>
            </a:pPr>
            <a:r>
              <a:rPr lang="en-US" sz="1300" dirty="0">
                <a:solidFill>
                  <a:srgbClr val="374856"/>
                </a:solidFill>
                <a:latin typeface="Times New Roman" pitchFamily="34" charset="0"/>
                <a:ea typeface="Times New Roman" pitchFamily="34" charset="-122"/>
                <a:cs typeface="Times New Roman" pitchFamily="34" charset="-120"/>
              </a:rPr>
              <a:t>MRI scans are complex and time-consuming to read manually. AI speeds up analysis, improves consistency, and flags subtle abnormalities a human eye may miss.</a:t>
            </a:r>
            <a:endParaRPr lang="en-US" sz="1300" dirty="0"/>
          </a:p>
        </p:txBody>
      </p:sp>
      <p:sp>
        <p:nvSpPr>
          <p:cNvPr id="16" name="Shape 11"/>
          <p:cNvSpPr/>
          <p:nvPr/>
        </p:nvSpPr>
        <p:spPr>
          <a:xfrm>
            <a:off x="7479792" y="722376"/>
            <a:ext cx="4251960" cy="5202936"/>
          </a:xfrm>
          <a:prstGeom prst="roundRect">
            <a:avLst>
              <a:gd name="adj" fmla="val 2151"/>
            </a:avLst>
          </a:prstGeom>
          <a:solidFill>
            <a:srgbClr val="E7EFF5"/>
          </a:solidFill>
          <a:ln w="12700">
            <a:solidFill>
              <a:srgbClr val="D7E1E8"/>
            </a:solidFill>
            <a:prstDash val="solid"/>
          </a:ln>
        </p:spPr>
        <p:txBody>
          <a:bodyPr/>
          <a:lstStyle/>
          <a:p>
            <a:endParaRPr lang="en-US"/>
          </a:p>
        </p:txBody>
      </p:sp>
      <p:sp>
        <p:nvSpPr>
          <p:cNvPr id="17" name="Text 12"/>
          <p:cNvSpPr/>
          <p:nvPr/>
        </p:nvSpPr>
        <p:spPr>
          <a:xfrm>
            <a:off x="7616952" y="807720"/>
            <a:ext cx="3886200" cy="548640"/>
          </a:xfrm>
          <a:prstGeom prst="rect">
            <a:avLst/>
          </a:prstGeom>
          <a:noFill/>
          <a:ln/>
        </p:spPr>
        <p:txBody>
          <a:bodyPr wrap="square" rtlCol="0" anchor="ctr"/>
          <a:lstStyle/>
          <a:p>
            <a:pPr marL="0" indent="0" algn="ctr">
              <a:buNone/>
            </a:pPr>
            <a:r>
              <a:rPr lang="en-US" sz="1600" b="1" dirty="0">
                <a:solidFill>
                  <a:srgbClr val="0A2540"/>
                </a:solidFill>
                <a:latin typeface="Times New Roman" pitchFamily="34" charset="0"/>
                <a:ea typeface="Times New Roman" pitchFamily="34" charset="-122"/>
                <a:cs typeface="Times New Roman" pitchFamily="34" charset="-120"/>
              </a:rPr>
              <a:t>Traditional vs. AI-Assisted Diagnosis</a:t>
            </a:r>
            <a:endParaRPr lang="en-US" sz="1600" dirty="0"/>
          </a:p>
        </p:txBody>
      </p:sp>
      <p:sp>
        <p:nvSpPr>
          <p:cNvPr id="18" name="Shape 13"/>
          <p:cNvSpPr/>
          <p:nvPr/>
        </p:nvSpPr>
        <p:spPr>
          <a:xfrm>
            <a:off x="7680960" y="1499616"/>
            <a:ext cx="3849624" cy="1828800"/>
          </a:xfrm>
          <a:prstGeom prst="roundRect">
            <a:avLst>
              <a:gd name="adj" fmla="val 4000"/>
            </a:avLst>
          </a:prstGeom>
          <a:ln/>
        </p:spPr>
        <p:style>
          <a:lnRef idx="2">
            <a:schemeClr val="dk1"/>
          </a:lnRef>
          <a:fillRef idx="1">
            <a:schemeClr val="lt1"/>
          </a:fillRef>
          <a:effectRef idx="0">
            <a:schemeClr val="dk1"/>
          </a:effectRef>
          <a:fontRef idx="minor">
            <a:schemeClr val="dk1"/>
          </a:fontRef>
        </p:style>
        <p:txBody>
          <a:bodyPr/>
          <a:lstStyle/>
          <a:p>
            <a:endParaRPr lang="en-US"/>
          </a:p>
        </p:txBody>
      </p:sp>
      <p:sp>
        <p:nvSpPr>
          <p:cNvPr id="19" name="Shape 14"/>
          <p:cNvSpPr/>
          <p:nvPr/>
        </p:nvSpPr>
        <p:spPr>
          <a:xfrm>
            <a:off x="7818120" y="1682496"/>
            <a:ext cx="530352" cy="530352"/>
          </a:xfrm>
          <a:prstGeom prst="ellipse">
            <a:avLst/>
          </a:prstGeom>
          <a:solidFill>
            <a:srgbClr val="4C606D"/>
          </a:solidFill>
          <a:ln/>
        </p:spPr>
        <p:txBody>
          <a:bodyPr/>
          <a:lstStyle/>
          <a:p>
            <a:endParaRPr lang="en-US" dirty="0"/>
          </a:p>
        </p:txBody>
      </p:sp>
      <p:pic>
        <p:nvPicPr>
          <p:cNvPr id="20" name="Image 3" descr="icons/userMd_white.png"/>
          <p:cNvPicPr>
            <a:picLocks noChangeAspect="1"/>
          </p:cNvPicPr>
          <p:nvPr/>
        </p:nvPicPr>
        <p:blipFill>
          <a:blip r:embed="rId6"/>
          <a:stretch>
            <a:fillRect/>
          </a:stretch>
        </p:blipFill>
        <p:spPr>
          <a:xfrm rot="10800000" flipV="1">
            <a:off x="7877836" y="1725054"/>
            <a:ext cx="404368" cy="404368"/>
          </a:xfrm>
          <a:prstGeom prst="rect">
            <a:avLst/>
          </a:prstGeom>
        </p:spPr>
      </p:pic>
      <p:sp>
        <p:nvSpPr>
          <p:cNvPr id="21" name="Text 15"/>
          <p:cNvSpPr/>
          <p:nvPr/>
        </p:nvSpPr>
        <p:spPr>
          <a:xfrm>
            <a:off x="8399946" y="1730818"/>
            <a:ext cx="2971800" cy="329184"/>
          </a:xfrm>
          <a:prstGeom prst="rect">
            <a:avLst/>
          </a:prstGeom>
          <a:noFill/>
          <a:ln/>
        </p:spPr>
        <p:txBody>
          <a:bodyPr wrap="square" rtlCol="0" anchor="ctr"/>
          <a:lstStyle/>
          <a:p>
            <a:pPr marL="0" indent="0">
              <a:buNone/>
            </a:pPr>
            <a:r>
              <a:rPr lang="en-US" sz="1400" b="1" dirty="0">
                <a:solidFill>
                  <a:srgbClr val="0A2540"/>
                </a:solidFill>
                <a:latin typeface="Times New Roman" pitchFamily="34" charset="0"/>
                <a:ea typeface="Times New Roman" pitchFamily="34" charset="-122"/>
                <a:cs typeface="Times New Roman" pitchFamily="34" charset="-120"/>
              </a:rPr>
              <a:t>Traditional Diagnosis</a:t>
            </a:r>
            <a:endParaRPr lang="en-US" sz="1400" dirty="0"/>
          </a:p>
        </p:txBody>
      </p:sp>
      <p:sp>
        <p:nvSpPr>
          <p:cNvPr id="22" name="Text 16"/>
          <p:cNvSpPr/>
          <p:nvPr/>
        </p:nvSpPr>
        <p:spPr>
          <a:xfrm>
            <a:off x="7882128" y="2061464"/>
            <a:ext cx="3520440" cy="1097280"/>
          </a:xfrm>
          <a:prstGeom prst="rect">
            <a:avLst/>
          </a:prstGeom>
          <a:noFill/>
          <a:ln/>
        </p:spPr>
        <p:txBody>
          <a:bodyPr wrap="square" rtlCol="0" anchor="ctr"/>
          <a:lstStyle/>
          <a:p>
            <a:pPr marL="342900" indent="-342900">
              <a:spcAft>
                <a:spcPts val="500"/>
              </a:spcAft>
              <a:buSzPct val="100000"/>
              <a:buChar char="•"/>
            </a:pPr>
            <a:r>
              <a:rPr lang="en-US" sz="1200" dirty="0">
                <a:solidFill>
                  <a:srgbClr val="374856"/>
                </a:solidFill>
                <a:latin typeface="Times New Roman" pitchFamily="34" charset="0"/>
                <a:ea typeface="Times New Roman" pitchFamily="34" charset="-122"/>
                <a:cs typeface="Times New Roman" pitchFamily="34" charset="-120"/>
              </a:rPr>
              <a:t>Manual visual reading by radiologist</a:t>
            </a:r>
            <a:endParaRPr lang="en-US" sz="1200" dirty="0"/>
          </a:p>
          <a:p>
            <a:pPr marL="342900" indent="-342900">
              <a:spcAft>
                <a:spcPts val="500"/>
              </a:spcAft>
              <a:buSzPct val="100000"/>
              <a:buChar char="•"/>
            </a:pPr>
            <a:r>
              <a:rPr lang="en-US" sz="1200" dirty="0">
                <a:solidFill>
                  <a:srgbClr val="374856"/>
                </a:solidFill>
                <a:latin typeface="Times New Roman" pitchFamily="34" charset="0"/>
                <a:ea typeface="Times New Roman" pitchFamily="34" charset="-122"/>
                <a:cs typeface="Times New Roman" pitchFamily="34" charset="-120"/>
              </a:rPr>
              <a:t>Slower, depends on experience</a:t>
            </a:r>
            <a:endParaRPr lang="en-US" sz="1200" dirty="0"/>
          </a:p>
          <a:p>
            <a:pPr marL="342900" indent="-342900">
              <a:spcAft>
                <a:spcPts val="500"/>
              </a:spcAft>
              <a:buSzPct val="100000"/>
              <a:buChar char="•"/>
            </a:pPr>
            <a:r>
              <a:rPr lang="en-US" sz="1200" dirty="0">
                <a:solidFill>
                  <a:srgbClr val="374856"/>
                </a:solidFill>
                <a:latin typeface="Times New Roman" pitchFamily="34" charset="0"/>
                <a:ea typeface="Times New Roman" pitchFamily="34" charset="-122"/>
                <a:cs typeface="Times New Roman" pitchFamily="34" charset="-120"/>
              </a:rPr>
              <a:t>Subtle abnormalities may be missed</a:t>
            </a:r>
            <a:endParaRPr lang="en-US" sz="1200" dirty="0"/>
          </a:p>
        </p:txBody>
      </p:sp>
      <p:sp>
        <p:nvSpPr>
          <p:cNvPr id="23" name="Shape 17"/>
          <p:cNvSpPr/>
          <p:nvPr/>
        </p:nvSpPr>
        <p:spPr>
          <a:xfrm>
            <a:off x="9203436" y="3415284"/>
            <a:ext cx="438912" cy="332740"/>
          </a:xfrm>
          <a:prstGeom prst="ellipse">
            <a:avLst/>
          </a:prstGeom>
          <a:solidFill>
            <a:srgbClr val="2FB8A6"/>
          </a:solidFill>
          <a:ln/>
        </p:spPr>
        <p:txBody>
          <a:bodyPr/>
          <a:lstStyle/>
          <a:p>
            <a:endParaRPr lang="en-US"/>
          </a:p>
        </p:txBody>
      </p:sp>
      <p:sp>
        <p:nvSpPr>
          <p:cNvPr id="24" name="Text 18"/>
          <p:cNvSpPr/>
          <p:nvPr/>
        </p:nvSpPr>
        <p:spPr>
          <a:xfrm>
            <a:off x="9203436" y="3360928"/>
            <a:ext cx="438912" cy="438912"/>
          </a:xfrm>
          <a:prstGeom prst="rect">
            <a:avLst/>
          </a:prstGeom>
          <a:noFill/>
          <a:ln/>
        </p:spPr>
        <p:txBody>
          <a:bodyPr wrap="square" rtlCol="0" anchor="ctr"/>
          <a:lstStyle/>
          <a:p>
            <a:pPr marL="0" indent="0" algn="ctr">
              <a:buNone/>
            </a:pPr>
            <a:r>
              <a:rPr lang="en-US" sz="1150" b="1" dirty="0">
                <a:solidFill>
                  <a:srgbClr val="FFFFFF"/>
                </a:solidFill>
                <a:latin typeface="Times New Roman" pitchFamily="34" charset="0"/>
                <a:ea typeface="Times New Roman" pitchFamily="34" charset="-122"/>
                <a:cs typeface="Times New Roman" pitchFamily="34" charset="-120"/>
              </a:rPr>
              <a:t>VS</a:t>
            </a:r>
            <a:endParaRPr lang="en-US" sz="1150" dirty="0"/>
          </a:p>
        </p:txBody>
      </p:sp>
      <p:sp>
        <p:nvSpPr>
          <p:cNvPr id="25" name="Shape 19"/>
          <p:cNvSpPr/>
          <p:nvPr/>
        </p:nvSpPr>
        <p:spPr>
          <a:xfrm>
            <a:off x="7680960" y="3839464"/>
            <a:ext cx="3849624" cy="1828800"/>
          </a:xfrm>
          <a:prstGeom prst="roundRect">
            <a:avLst>
              <a:gd name="adj" fmla="val 4000"/>
            </a:avLst>
          </a:prstGeom>
          <a:solidFill>
            <a:srgbClr val="FFFFFF"/>
          </a:solidFill>
          <a:ln w="15875">
            <a:solidFill>
              <a:srgbClr val="0B4F8A"/>
            </a:solidFill>
            <a:prstDash val="solid"/>
          </a:ln>
        </p:spPr>
        <p:txBody>
          <a:bodyPr/>
          <a:lstStyle/>
          <a:p>
            <a:endParaRPr lang="en-US"/>
          </a:p>
        </p:txBody>
      </p:sp>
      <p:sp>
        <p:nvSpPr>
          <p:cNvPr id="26" name="Shape 20"/>
          <p:cNvSpPr/>
          <p:nvPr/>
        </p:nvSpPr>
        <p:spPr>
          <a:xfrm>
            <a:off x="7790688" y="3935984"/>
            <a:ext cx="530352" cy="530352"/>
          </a:xfrm>
          <a:prstGeom prst="ellipse">
            <a:avLst/>
          </a:prstGeom>
          <a:solidFill>
            <a:srgbClr val="0B4F8A"/>
          </a:solidFill>
          <a:ln/>
        </p:spPr>
        <p:txBody>
          <a:bodyPr/>
          <a:lstStyle/>
          <a:p>
            <a:endParaRPr lang="en-US"/>
          </a:p>
        </p:txBody>
      </p:sp>
      <p:pic>
        <p:nvPicPr>
          <p:cNvPr id="27" name="Image 4" descr="icons/robot_white.png"/>
          <p:cNvPicPr>
            <a:picLocks noChangeAspect="1"/>
          </p:cNvPicPr>
          <p:nvPr/>
        </p:nvPicPr>
        <p:blipFill>
          <a:blip r:embed="rId4"/>
          <a:stretch>
            <a:fillRect/>
          </a:stretch>
        </p:blipFill>
        <p:spPr>
          <a:xfrm>
            <a:off x="7900416" y="4019296"/>
            <a:ext cx="310896" cy="310896"/>
          </a:xfrm>
          <a:prstGeom prst="rect">
            <a:avLst/>
          </a:prstGeom>
        </p:spPr>
      </p:pic>
      <p:sp>
        <p:nvSpPr>
          <p:cNvPr id="28" name="Text 21"/>
          <p:cNvSpPr/>
          <p:nvPr/>
        </p:nvSpPr>
        <p:spPr>
          <a:xfrm>
            <a:off x="8412480" y="4011282"/>
            <a:ext cx="2971800" cy="329184"/>
          </a:xfrm>
          <a:prstGeom prst="rect">
            <a:avLst/>
          </a:prstGeom>
          <a:noFill/>
          <a:ln/>
        </p:spPr>
        <p:txBody>
          <a:bodyPr wrap="square" rtlCol="0" anchor="ctr"/>
          <a:lstStyle/>
          <a:p>
            <a:pPr marL="0" indent="0">
              <a:buNone/>
            </a:pPr>
            <a:r>
              <a:rPr lang="en-US" sz="1400" b="1" dirty="0">
                <a:solidFill>
                  <a:srgbClr val="0B4F8A"/>
                </a:solidFill>
                <a:latin typeface="Times New Roman" pitchFamily="34" charset="0"/>
                <a:ea typeface="Times New Roman" pitchFamily="34" charset="-122"/>
                <a:cs typeface="Times New Roman" pitchFamily="34" charset="-120"/>
              </a:rPr>
              <a:t>AI-Assisted Diagnosis</a:t>
            </a:r>
            <a:endParaRPr lang="en-US" sz="1400" dirty="0"/>
          </a:p>
        </p:txBody>
      </p:sp>
      <p:sp>
        <p:nvSpPr>
          <p:cNvPr id="29" name="Text 22"/>
          <p:cNvSpPr/>
          <p:nvPr/>
        </p:nvSpPr>
        <p:spPr>
          <a:xfrm>
            <a:off x="7882128" y="4428744"/>
            <a:ext cx="3520440" cy="1097280"/>
          </a:xfrm>
          <a:prstGeom prst="rect">
            <a:avLst/>
          </a:prstGeom>
          <a:noFill/>
          <a:ln/>
        </p:spPr>
        <p:txBody>
          <a:bodyPr wrap="square" rtlCol="0" anchor="ctr"/>
          <a:lstStyle/>
          <a:p>
            <a:pPr marL="342900" indent="-342900">
              <a:spcAft>
                <a:spcPts val="500"/>
              </a:spcAft>
              <a:buSzPct val="100000"/>
              <a:buChar char="•"/>
            </a:pPr>
            <a:r>
              <a:rPr lang="en-US" sz="1200" dirty="0">
                <a:solidFill>
                  <a:srgbClr val="374856"/>
                </a:solidFill>
                <a:latin typeface="Times New Roman" pitchFamily="34" charset="0"/>
                <a:ea typeface="Times New Roman" pitchFamily="34" charset="-122"/>
                <a:cs typeface="Times New Roman" pitchFamily="34" charset="-120"/>
              </a:rPr>
              <a:t>Automated pattern &amp; anomaly detection</a:t>
            </a:r>
            <a:endParaRPr lang="en-US" sz="1200" dirty="0"/>
          </a:p>
          <a:p>
            <a:pPr marL="342900" indent="-342900">
              <a:spcAft>
                <a:spcPts val="500"/>
              </a:spcAft>
              <a:buSzPct val="100000"/>
              <a:buChar char="•"/>
            </a:pPr>
            <a:r>
              <a:rPr lang="en-US" sz="1200" dirty="0">
                <a:solidFill>
                  <a:srgbClr val="374856"/>
                </a:solidFill>
                <a:latin typeface="Times New Roman" pitchFamily="34" charset="0"/>
                <a:ea typeface="Times New Roman" pitchFamily="34" charset="-122"/>
                <a:cs typeface="Times New Roman" pitchFamily="34" charset="-120"/>
              </a:rPr>
              <a:t>Fast, consistent, and scalable</a:t>
            </a:r>
            <a:endParaRPr lang="en-US" sz="1200" dirty="0"/>
          </a:p>
          <a:p>
            <a:pPr marL="342900" indent="-342900">
              <a:spcAft>
                <a:spcPts val="500"/>
              </a:spcAft>
              <a:buSzPct val="100000"/>
              <a:buChar char="•"/>
            </a:pPr>
            <a:r>
              <a:rPr lang="en-US" sz="1200" dirty="0">
                <a:solidFill>
                  <a:srgbClr val="374856"/>
                </a:solidFill>
                <a:latin typeface="Times New Roman" pitchFamily="34" charset="0"/>
                <a:ea typeface="Times New Roman" pitchFamily="34" charset="-122"/>
                <a:cs typeface="Times New Roman" pitchFamily="34" charset="-120"/>
              </a:rPr>
              <a:t>Highlights subtle findings for review</a:t>
            </a:r>
            <a:endParaRPr lang="en-US" sz="1200" dirty="0"/>
          </a:p>
        </p:txBody>
      </p:sp>
      <p:sp>
        <p:nvSpPr>
          <p:cNvPr id="30" name="Text 23"/>
          <p:cNvSpPr/>
          <p:nvPr/>
        </p:nvSpPr>
        <p:spPr>
          <a:xfrm>
            <a:off x="457200" y="6492240"/>
            <a:ext cx="6400800" cy="292608"/>
          </a:xfrm>
          <a:prstGeom prst="rect">
            <a:avLst/>
          </a:prstGeom>
          <a:noFill/>
          <a:ln/>
        </p:spPr>
        <p:txBody>
          <a:bodyPr wrap="square" rtlCol="0" anchor="ctr"/>
          <a:lstStyle/>
          <a:p>
            <a:pPr marL="0" indent="0" algn="l">
              <a:buNone/>
            </a:pPr>
            <a:r>
              <a:rPr lang="en-US" sz="1050" dirty="0">
                <a:solidFill>
                  <a:srgbClr val="4C606D"/>
                </a:solidFill>
                <a:latin typeface="Times New Roman" pitchFamily="34" charset="0"/>
                <a:ea typeface="Times New Roman" pitchFamily="34" charset="-122"/>
                <a:cs typeface="Times New Roman" pitchFamily="34" charset="-120"/>
              </a:rPr>
              <a:t>Medical AI System for MRI Image Analysis</a:t>
            </a:r>
            <a:endParaRPr lang="en-US" sz="1050" dirty="0"/>
          </a:p>
        </p:txBody>
      </p:sp>
      <p:sp>
        <p:nvSpPr>
          <p:cNvPr id="31" name="Text 24"/>
          <p:cNvSpPr/>
          <p:nvPr/>
        </p:nvSpPr>
        <p:spPr>
          <a:xfrm>
            <a:off x="11274552" y="6492240"/>
            <a:ext cx="457200" cy="292608"/>
          </a:xfrm>
          <a:prstGeom prst="rect">
            <a:avLst/>
          </a:prstGeom>
          <a:noFill/>
          <a:ln/>
        </p:spPr>
        <p:txBody>
          <a:bodyPr wrap="square" rtlCol="0" anchor="ctr"/>
          <a:lstStyle/>
          <a:p>
            <a:pPr marL="0" indent="0" algn="r">
              <a:buNone/>
            </a:pPr>
            <a:r>
              <a:rPr lang="en-US" sz="1050" dirty="0">
                <a:solidFill>
                  <a:srgbClr val="4C606D"/>
                </a:solidFill>
                <a:latin typeface="Times New Roman" pitchFamily="34" charset="0"/>
                <a:ea typeface="Times New Roman" pitchFamily="34" charset="-122"/>
                <a:cs typeface="Times New Roman"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7EFF5"/>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566928"/>
          </a:xfrm>
          <a:prstGeom prst="rect">
            <a:avLst/>
          </a:prstGeom>
          <a:noFill/>
          <a:ln/>
        </p:spPr>
        <p:txBody>
          <a:bodyPr wrap="square" rtlCol="0" anchor="ctr"/>
          <a:lstStyle/>
          <a:p>
            <a:pPr marL="0" indent="0">
              <a:buNone/>
            </a:pPr>
            <a:r>
              <a:rPr lang="en-US" sz="3200" b="1" dirty="0">
                <a:solidFill>
                  <a:srgbClr val="0A2540"/>
                </a:solidFill>
                <a:latin typeface="Times New Roman" pitchFamily="34" charset="0"/>
                <a:ea typeface="Times New Roman" pitchFamily="34" charset="-122"/>
                <a:cs typeface="Times New Roman" pitchFamily="34" charset="-120"/>
              </a:rPr>
              <a:t>Role of Computer Vision</a:t>
            </a:r>
            <a:endParaRPr lang="en-US" sz="3200" dirty="0"/>
          </a:p>
        </p:txBody>
      </p:sp>
      <p:sp>
        <p:nvSpPr>
          <p:cNvPr id="3" name="Text 1"/>
          <p:cNvSpPr/>
          <p:nvPr/>
        </p:nvSpPr>
        <p:spPr>
          <a:xfrm>
            <a:off x="548640" y="896112"/>
            <a:ext cx="9601200" cy="329184"/>
          </a:xfrm>
          <a:prstGeom prst="rect">
            <a:avLst/>
          </a:prstGeom>
          <a:noFill/>
          <a:ln/>
        </p:spPr>
        <p:txBody>
          <a:bodyPr wrap="square" rtlCol="0" anchor="ctr"/>
          <a:lstStyle/>
          <a:p>
            <a:pPr marL="0" indent="0">
              <a:buNone/>
            </a:pPr>
            <a:r>
              <a:rPr lang="en-US" sz="1400" i="1" dirty="0">
                <a:solidFill>
                  <a:srgbClr val="374856"/>
                </a:solidFill>
                <a:latin typeface="Times New Roman" pitchFamily="34" charset="0"/>
                <a:ea typeface="Times New Roman" pitchFamily="34" charset="-122"/>
                <a:cs typeface="Times New Roman" pitchFamily="34" charset="-120"/>
              </a:rPr>
              <a:t>Computer vision transforms a raw MRI scan into a structured clinical insight</a:t>
            </a:r>
            <a:endParaRPr lang="en-US" sz="1400" dirty="0"/>
          </a:p>
        </p:txBody>
      </p:sp>
      <p:sp>
        <p:nvSpPr>
          <p:cNvPr id="4" name="Shape 2"/>
          <p:cNvSpPr/>
          <p:nvPr/>
        </p:nvSpPr>
        <p:spPr>
          <a:xfrm>
            <a:off x="457200" y="1783080"/>
            <a:ext cx="1481328" cy="1572768"/>
          </a:xfrm>
          <a:prstGeom prst="roundRect">
            <a:avLst>
              <a:gd name="adj" fmla="val 5556"/>
            </a:avLst>
          </a:prstGeom>
          <a:solidFill>
            <a:srgbClr val="FFFFFF"/>
          </a:solidFill>
          <a:ln w="12700">
            <a:solidFill>
              <a:srgbClr val="D7E1E8"/>
            </a:solidFill>
            <a:prstDash val="solid"/>
          </a:ln>
        </p:spPr>
        <p:txBody>
          <a:bodyPr/>
          <a:lstStyle/>
          <a:p>
            <a:endParaRPr lang="en-US"/>
          </a:p>
        </p:txBody>
      </p:sp>
      <p:sp>
        <p:nvSpPr>
          <p:cNvPr id="5" name="Shape 3"/>
          <p:cNvSpPr/>
          <p:nvPr/>
        </p:nvSpPr>
        <p:spPr>
          <a:xfrm>
            <a:off x="832104" y="1417320"/>
            <a:ext cx="731520" cy="731520"/>
          </a:xfrm>
          <a:prstGeom prst="ellipse">
            <a:avLst/>
          </a:prstGeom>
          <a:solidFill>
            <a:srgbClr val="0B4F8A"/>
          </a:solidFill>
          <a:ln w="38100">
            <a:solidFill>
              <a:srgbClr val="FFFFFF"/>
            </a:solidFill>
            <a:prstDash val="solid"/>
          </a:ln>
        </p:spPr>
        <p:txBody>
          <a:bodyPr/>
          <a:lstStyle/>
          <a:p>
            <a:endParaRPr lang="en-US"/>
          </a:p>
        </p:txBody>
      </p:sp>
      <p:pic>
        <p:nvPicPr>
          <p:cNvPr id="6" name="Image 0" descr="icons/mri_white.png"/>
          <p:cNvPicPr>
            <a:picLocks noChangeAspect="1"/>
          </p:cNvPicPr>
          <p:nvPr/>
        </p:nvPicPr>
        <p:blipFill>
          <a:blip r:embed="rId3"/>
          <a:stretch>
            <a:fillRect/>
          </a:stretch>
        </p:blipFill>
        <p:spPr>
          <a:xfrm>
            <a:off x="987552" y="1572768"/>
            <a:ext cx="420624" cy="420624"/>
          </a:xfrm>
          <a:prstGeom prst="rect">
            <a:avLst/>
          </a:prstGeom>
        </p:spPr>
      </p:pic>
      <p:sp>
        <p:nvSpPr>
          <p:cNvPr id="7" name="Text 4"/>
          <p:cNvSpPr/>
          <p:nvPr/>
        </p:nvSpPr>
        <p:spPr>
          <a:xfrm>
            <a:off x="493776" y="2093976"/>
            <a:ext cx="1408176" cy="512064"/>
          </a:xfrm>
          <a:prstGeom prst="rect">
            <a:avLst/>
          </a:prstGeom>
          <a:noFill/>
          <a:ln/>
        </p:spPr>
        <p:txBody>
          <a:bodyPr wrap="square" rtlCol="0" anchor="t"/>
          <a:lstStyle/>
          <a:p>
            <a:pPr marL="0" indent="0" algn="ctr">
              <a:lnSpc>
                <a:spcPct val="100000"/>
              </a:lnSpc>
              <a:buNone/>
            </a:pPr>
            <a:r>
              <a:rPr lang="en-US" sz="1150" b="1" dirty="0">
                <a:solidFill>
                  <a:srgbClr val="0A2540"/>
                </a:solidFill>
                <a:latin typeface="Times New Roman" pitchFamily="34" charset="0"/>
                <a:ea typeface="Times New Roman" pitchFamily="34" charset="-122"/>
                <a:cs typeface="Times New Roman" pitchFamily="34" charset="-120"/>
              </a:rPr>
              <a:t>MRI Image</a:t>
            </a:r>
            <a:endParaRPr lang="en-US" sz="1150" dirty="0"/>
          </a:p>
        </p:txBody>
      </p:sp>
      <p:sp>
        <p:nvSpPr>
          <p:cNvPr id="8" name="Text 5"/>
          <p:cNvSpPr/>
          <p:nvPr/>
        </p:nvSpPr>
        <p:spPr>
          <a:xfrm>
            <a:off x="493776" y="2606040"/>
            <a:ext cx="1408176" cy="640080"/>
          </a:xfrm>
          <a:prstGeom prst="rect">
            <a:avLst/>
          </a:prstGeom>
          <a:noFill/>
          <a:ln/>
        </p:spPr>
        <p:txBody>
          <a:bodyPr wrap="square" rtlCol="0" anchor="t"/>
          <a:lstStyle/>
          <a:p>
            <a:pPr marL="0" indent="0" algn="ctr">
              <a:lnSpc>
                <a:spcPct val="108000"/>
              </a:lnSpc>
              <a:buNone/>
            </a:pPr>
            <a:r>
              <a:rPr lang="en-US" sz="950" dirty="0">
                <a:solidFill>
                  <a:srgbClr val="374856"/>
                </a:solidFill>
                <a:latin typeface="Times New Roman" pitchFamily="34" charset="0"/>
                <a:ea typeface="Times New Roman" pitchFamily="34" charset="-122"/>
                <a:cs typeface="Times New Roman" pitchFamily="34" charset="-120"/>
              </a:rPr>
              <a:t>Raw scan received</a:t>
            </a:r>
            <a:endParaRPr lang="en-US" sz="950" dirty="0"/>
          </a:p>
        </p:txBody>
      </p:sp>
      <p:sp>
        <p:nvSpPr>
          <p:cNvPr id="9" name="Shape 6"/>
          <p:cNvSpPr/>
          <p:nvPr/>
        </p:nvSpPr>
        <p:spPr>
          <a:xfrm>
            <a:off x="1953616" y="2496312"/>
            <a:ext cx="120701" cy="146304"/>
          </a:xfrm>
          <a:prstGeom prst="rightArrow">
            <a:avLst/>
          </a:prstGeom>
          <a:solidFill>
            <a:srgbClr val="3E7FB0"/>
          </a:solidFill>
          <a:ln/>
        </p:spPr>
        <p:txBody>
          <a:bodyPr/>
          <a:lstStyle/>
          <a:p>
            <a:endParaRPr lang="en-US"/>
          </a:p>
        </p:txBody>
      </p:sp>
      <p:sp>
        <p:nvSpPr>
          <p:cNvPr id="10" name="Shape 7"/>
          <p:cNvSpPr/>
          <p:nvPr/>
        </p:nvSpPr>
        <p:spPr>
          <a:xfrm>
            <a:off x="2089404" y="1783080"/>
            <a:ext cx="1481328" cy="1572768"/>
          </a:xfrm>
          <a:prstGeom prst="roundRect">
            <a:avLst>
              <a:gd name="adj" fmla="val 5556"/>
            </a:avLst>
          </a:prstGeom>
          <a:solidFill>
            <a:srgbClr val="FFFFFF"/>
          </a:solidFill>
          <a:ln w="12700">
            <a:solidFill>
              <a:srgbClr val="D7E1E8"/>
            </a:solidFill>
            <a:prstDash val="solid"/>
          </a:ln>
        </p:spPr>
        <p:txBody>
          <a:bodyPr/>
          <a:lstStyle/>
          <a:p>
            <a:endParaRPr lang="en-US"/>
          </a:p>
        </p:txBody>
      </p:sp>
      <p:sp>
        <p:nvSpPr>
          <p:cNvPr id="11" name="Shape 8"/>
          <p:cNvSpPr/>
          <p:nvPr/>
        </p:nvSpPr>
        <p:spPr>
          <a:xfrm>
            <a:off x="2464308" y="1417320"/>
            <a:ext cx="731520" cy="731520"/>
          </a:xfrm>
          <a:prstGeom prst="ellipse">
            <a:avLst/>
          </a:prstGeom>
          <a:solidFill>
            <a:srgbClr val="0B4F8A"/>
          </a:solidFill>
          <a:ln w="38100">
            <a:solidFill>
              <a:srgbClr val="FFFFFF"/>
            </a:solidFill>
            <a:prstDash val="solid"/>
          </a:ln>
        </p:spPr>
        <p:txBody>
          <a:bodyPr/>
          <a:lstStyle/>
          <a:p>
            <a:endParaRPr lang="en-US"/>
          </a:p>
        </p:txBody>
      </p:sp>
      <p:pic>
        <p:nvPicPr>
          <p:cNvPr id="12" name="Image 1" descr="icons/scanner_white.png"/>
          <p:cNvPicPr>
            <a:picLocks noChangeAspect="1"/>
          </p:cNvPicPr>
          <p:nvPr/>
        </p:nvPicPr>
        <p:blipFill>
          <a:blip r:embed="rId4"/>
          <a:stretch>
            <a:fillRect/>
          </a:stretch>
        </p:blipFill>
        <p:spPr>
          <a:xfrm>
            <a:off x="2619756" y="1572768"/>
            <a:ext cx="420624" cy="420624"/>
          </a:xfrm>
          <a:prstGeom prst="rect">
            <a:avLst/>
          </a:prstGeom>
        </p:spPr>
      </p:pic>
      <p:sp>
        <p:nvSpPr>
          <p:cNvPr id="13" name="Text 9"/>
          <p:cNvSpPr/>
          <p:nvPr/>
        </p:nvSpPr>
        <p:spPr>
          <a:xfrm>
            <a:off x="2125980" y="2093976"/>
            <a:ext cx="1408176" cy="512064"/>
          </a:xfrm>
          <a:prstGeom prst="rect">
            <a:avLst/>
          </a:prstGeom>
          <a:noFill/>
          <a:ln/>
        </p:spPr>
        <p:txBody>
          <a:bodyPr wrap="square" rtlCol="0" anchor="t"/>
          <a:lstStyle/>
          <a:p>
            <a:pPr marL="0" indent="0" algn="ctr">
              <a:lnSpc>
                <a:spcPct val="100000"/>
              </a:lnSpc>
              <a:buNone/>
            </a:pPr>
            <a:r>
              <a:rPr lang="en-US" sz="1150" b="1" dirty="0">
                <a:solidFill>
                  <a:srgbClr val="0A2540"/>
                </a:solidFill>
                <a:latin typeface="Times New Roman" pitchFamily="34" charset="0"/>
                <a:ea typeface="Times New Roman" pitchFamily="34" charset="-122"/>
                <a:cs typeface="Times New Roman" pitchFamily="34" charset="-120"/>
              </a:rPr>
              <a:t>Image</a:t>
            </a:r>
            <a:endParaRPr lang="en-US" sz="1150" dirty="0"/>
          </a:p>
          <a:p>
            <a:pPr marL="0" indent="0" algn="ctr">
              <a:lnSpc>
                <a:spcPct val="100000"/>
              </a:lnSpc>
              <a:buNone/>
            </a:pPr>
            <a:r>
              <a:rPr lang="en-US" sz="1150" b="1" dirty="0">
                <a:solidFill>
                  <a:srgbClr val="0A2540"/>
                </a:solidFill>
                <a:latin typeface="Times New Roman" pitchFamily="34" charset="0"/>
                <a:ea typeface="Times New Roman" pitchFamily="34" charset="-122"/>
                <a:cs typeface="Times New Roman" pitchFamily="34" charset="-120"/>
              </a:rPr>
              <a:t>Acquisition</a:t>
            </a:r>
            <a:endParaRPr lang="en-US" sz="1150" dirty="0"/>
          </a:p>
        </p:txBody>
      </p:sp>
      <p:sp>
        <p:nvSpPr>
          <p:cNvPr id="14" name="Text 10"/>
          <p:cNvSpPr/>
          <p:nvPr/>
        </p:nvSpPr>
        <p:spPr>
          <a:xfrm>
            <a:off x="2125980" y="2606040"/>
            <a:ext cx="1408176" cy="640080"/>
          </a:xfrm>
          <a:prstGeom prst="rect">
            <a:avLst/>
          </a:prstGeom>
          <a:noFill/>
          <a:ln/>
        </p:spPr>
        <p:txBody>
          <a:bodyPr wrap="square" rtlCol="0" anchor="t"/>
          <a:lstStyle/>
          <a:p>
            <a:pPr marL="0" indent="0" algn="ctr">
              <a:lnSpc>
                <a:spcPct val="108000"/>
              </a:lnSpc>
              <a:buNone/>
            </a:pPr>
            <a:r>
              <a:rPr lang="en-US" sz="950" dirty="0">
                <a:solidFill>
                  <a:srgbClr val="374856"/>
                </a:solidFill>
                <a:latin typeface="Times New Roman" pitchFamily="34" charset="0"/>
                <a:ea typeface="Times New Roman" pitchFamily="34" charset="-122"/>
                <a:cs typeface="Times New Roman" pitchFamily="34" charset="-120"/>
              </a:rPr>
              <a:t>Digital capture of</a:t>
            </a:r>
            <a:endParaRPr lang="en-US" sz="950" dirty="0"/>
          </a:p>
          <a:p>
            <a:pPr marL="0" indent="0" algn="ctr">
              <a:lnSpc>
                <a:spcPct val="108000"/>
              </a:lnSpc>
              <a:buNone/>
            </a:pPr>
            <a:r>
              <a:rPr lang="en-US" sz="950" dirty="0">
                <a:solidFill>
                  <a:srgbClr val="374856"/>
                </a:solidFill>
                <a:latin typeface="Times New Roman" pitchFamily="34" charset="0"/>
                <a:ea typeface="Times New Roman" pitchFamily="34" charset="-122"/>
                <a:cs typeface="Times New Roman" pitchFamily="34" charset="-120"/>
              </a:rPr>
              <a:t>scan slices</a:t>
            </a:r>
            <a:endParaRPr lang="en-US" sz="950" dirty="0"/>
          </a:p>
        </p:txBody>
      </p:sp>
      <p:sp>
        <p:nvSpPr>
          <p:cNvPr id="15" name="Shape 11"/>
          <p:cNvSpPr/>
          <p:nvPr/>
        </p:nvSpPr>
        <p:spPr>
          <a:xfrm>
            <a:off x="3585820" y="2496312"/>
            <a:ext cx="120701" cy="146304"/>
          </a:xfrm>
          <a:prstGeom prst="rightArrow">
            <a:avLst/>
          </a:prstGeom>
          <a:solidFill>
            <a:srgbClr val="3E7FB0"/>
          </a:solidFill>
          <a:ln/>
        </p:spPr>
        <p:txBody>
          <a:bodyPr/>
          <a:lstStyle/>
          <a:p>
            <a:endParaRPr lang="en-US"/>
          </a:p>
        </p:txBody>
      </p:sp>
      <p:sp>
        <p:nvSpPr>
          <p:cNvPr id="16" name="Shape 12"/>
          <p:cNvSpPr/>
          <p:nvPr/>
        </p:nvSpPr>
        <p:spPr>
          <a:xfrm>
            <a:off x="3721608" y="1783080"/>
            <a:ext cx="1481328" cy="1572768"/>
          </a:xfrm>
          <a:prstGeom prst="roundRect">
            <a:avLst>
              <a:gd name="adj" fmla="val 5556"/>
            </a:avLst>
          </a:prstGeom>
          <a:solidFill>
            <a:srgbClr val="FFFFFF"/>
          </a:solidFill>
          <a:ln w="12700">
            <a:solidFill>
              <a:srgbClr val="D7E1E8"/>
            </a:solidFill>
            <a:prstDash val="solid"/>
          </a:ln>
        </p:spPr>
        <p:txBody>
          <a:bodyPr/>
          <a:lstStyle/>
          <a:p>
            <a:endParaRPr lang="en-US"/>
          </a:p>
        </p:txBody>
      </p:sp>
      <p:sp>
        <p:nvSpPr>
          <p:cNvPr id="17" name="Shape 13"/>
          <p:cNvSpPr/>
          <p:nvPr/>
        </p:nvSpPr>
        <p:spPr>
          <a:xfrm>
            <a:off x="4096512" y="1417320"/>
            <a:ext cx="731520" cy="731520"/>
          </a:xfrm>
          <a:prstGeom prst="ellipse">
            <a:avLst/>
          </a:prstGeom>
          <a:solidFill>
            <a:srgbClr val="0B4F8A"/>
          </a:solidFill>
          <a:ln w="38100">
            <a:solidFill>
              <a:srgbClr val="FFFFFF"/>
            </a:solidFill>
            <a:prstDash val="solid"/>
          </a:ln>
        </p:spPr>
        <p:txBody>
          <a:bodyPr/>
          <a:lstStyle/>
          <a:p>
            <a:endParaRPr lang="en-US"/>
          </a:p>
        </p:txBody>
      </p:sp>
      <p:pic>
        <p:nvPicPr>
          <p:cNvPr id="18" name="Image 2" descr="icons/gear_white.png"/>
          <p:cNvPicPr>
            <a:picLocks noChangeAspect="1"/>
          </p:cNvPicPr>
          <p:nvPr/>
        </p:nvPicPr>
        <p:blipFill>
          <a:blip r:embed="rId5"/>
          <a:stretch>
            <a:fillRect/>
          </a:stretch>
        </p:blipFill>
        <p:spPr>
          <a:xfrm>
            <a:off x="4251960" y="1572768"/>
            <a:ext cx="420624" cy="420624"/>
          </a:xfrm>
          <a:prstGeom prst="rect">
            <a:avLst/>
          </a:prstGeom>
        </p:spPr>
      </p:pic>
      <p:sp>
        <p:nvSpPr>
          <p:cNvPr id="19" name="Text 14"/>
          <p:cNvSpPr/>
          <p:nvPr/>
        </p:nvSpPr>
        <p:spPr>
          <a:xfrm>
            <a:off x="3758184" y="2093976"/>
            <a:ext cx="1408176" cy="512064"/>
          </a:xfrm>
          <a:prstGeom prst="rect">
            <a:avLst/>
          </a:prstGeom>
          <a:noFill/>
          <a:ln/>
        </p:spPr>
        <p:txBody>
          <a:bodyPr wrap="square" rtlCol="0" anchor="t"/>
          <a:lstStyle/>
          <a:p>
            <a:pPr marL="0" indent="0" algn="ctr">
              <a:lnSpc>
                <a:spcPct val="100000"/>
              </a:lnSpc>
              <a:buNone/>
            </a:pPr>
            <a:r>
              <a:rPr lang="en-US" sz="1150" b="1" dirty="0">
                <a:solidFill>
                  <a:srgbClr val="0A2540"/>
                </a:solidFill>
                <a:latin typeface="Times New Roman" pitchFamily="34" charset="0"/>
                <a:ea typeface="Times New Roman" pitchFamily="34" charset="-122"/>
                <a:cs typeface="Times New Roman" pitchFamily="34" charset="-120"/>
              </a:rPr>
              <a:t>Image</a:t>
            </a:r>
            <a:endParaRPr lang="en-US" sz="1150" dirty="0"/>
          </a:p>
          <a:p>
            <a:pPr marL="0" indent="0" algn="ctr">
              <a:lnSpc>
                <a:spcPct val="100000"/>
              </a:lnSpc>
              <a:buNone/>
            </a:pPr>
            <a:r>
              <a:rPr lang="en-US" sz="1150" b="1" dirty="0">
                <a:solidFill>
                  <a:srgbClr val="0A2540"/>
                </a:solidFill>
                <a:latin typeface="Times New Roman" pitchFamily="34" charset="0"/>
                <a:ea typeface="Times New Roman" pitchFamily="34" charset="-122"/>
                <a:cs typeface="Times New Roman" pitchFamily="34" charset="-120"/>
              </a:rPr>
              <a:t>Preprocessing</a:t>
            </a:r>
            <a:endParaRPr lang="en-US" sz="1150" dirty="0"/>
          </a:p>
        </p:txBody>
      </p:sp>
      <p:sp>
        <p:nvSpPr>
          <p:cNvPr id="20" name="Text 15"/>
          <p:cNvSpPr/>
          <p:nvPr/>
        </p:nvSpPr>
        <p:spPr>
          <a:xfrm>
            <a:off x="3758184" y="2606040"/>
            <a:ext cx="1408176" cy="640080"/>
          </a:xfrm>
          <a:prstGeom prst="rect">
            <a:avLst/>
          </a:prstGeom>
          <a:noFill/>
          <a:ln/>
        </p:spPr>
        <p:txBody>
          <a:bodyPr wrap="square" rtlCol="0" anchor="t"/>
          <a:lstStyle/>
          <a:p>
            <a:pPr marL="0" indent="0" algn="ctr">
              <a:lnSpc>
                <a:spcPct val="108000"/>
              </a:lnSpc>
              <a:buNone/>
            </a:pPr>
            <a:r>
              <a:rPr lang="en-US" sz="950" dirty="0">
                <a:solidFill>
                  <a:srgbClr val="374856"/>
                </a:solidFill>
                <a:latin typeface="Times New Roman" pitchFamily="34" charset="0"/>
                <a:ea typeface="Times New Roman" pitchFamily="34" charset="-122"/>
                <a:cs typeface="Times New Roman" pitchFamily="34" charset="-120"/>
              </a:rPr>
              <a:t>Noise removal &amp;</a:t>
            </a:r>
            <a:endParaRPr lang="en-US" sz="950" dirty="0"/>
          </a:p>
          <a:p>
            <a:pPr marL="0" indent="0" algn="ctr">
              <a:lnSpc>
                <a:spcPct val="108000"/>
              </a:lnSpc>
              <a:buNone/>
            </a:pPr>
            <a:r>
              <a:rPr lang="en-US" sz="950" dirty="0">
                <a:solidFill>
                  <a:srgbClr val="374856"/>
                </a:solidFill>
                <a:latin typeface="Times New Roman" pitchFamily="34" charset="0"/>
                <a:ea typeface="Times New Roman" pitchFamily="34" charset="-122"/>
                <a:cs typeface="Times New Roman" pitchFamily="34" charset="-120"/>
              </a:rPr>
              <a:t>normalization</a:t>
            </a:r>
            <a:endParaRPr lang="en-US" sz="950" dirty="0"/>
          </a:p>
        </p:txBody>
      </p:sp>
      <p:sp>
        <p:nvSpPr>
          <p:cNvPr id="21" name="Shape 16"/>
          <p:cNvSpPr/>
          <p:nvPr/>
        </p:nvSpPr>
        <p:spPr>
          <a:xfrm>
            <a:off x="5218024" y="2496312"/>
            <a:ext cx="120701" cy="146304"/>
          </a:xfrm>
          <a:prstGeom prst="rightArrow">
            <a:avLst/>
          </a:prstGeom>
          <a:solidFill>
            <a:srgbClr val="3E7FB0"/>
          </a:solidFill>
          <a:ln/>
        </p:spPr>
        <p:txBody>
          <a:bodyPr/>
          <a:lstStyle/>
          <a:p>
            <a:endParaRPr lang="en-US"/>
          </a:p>
        </p:txBody>
      </p:sp>
      <p:sp>
        <p:nvSpPr>
          <p:cNvPr id="22" name="Shape 17"/>
          <p:cNvSpPr/>
          <p:nvPr/>
        </p:nvSpPr>
        <p:spPr>
          <a:xfrm>
            <a:off x="5353812" y="1783080"/>
            <a:ext cx="1481328" cy="1572768"/>
          </a:xfrm>
          <a:prstGeom prst="roundRect">
            <a:avLst>
              <a:gd name="adj" fmla="val 5556"/>
            </a:avLst>
          </a:prstGeom>
          <a:solidFill>
            <a:srgbClr val="FFFFFF"/>
          </a:solidFill>
          <a:ln w="12700">
            <a:solidFill>
              <a:srgbClr val="D7E1E8"/>
            </a:solidFill>
            <a:prstDash val="solid"/>
          </a:ln>
        </p:spPr>
        <p:txBody>
          <a:bodyPr/>
          <a:lstStyle/>
          <a:p>
            <a:endParaRPr lang="en-US"/>
          </a:p>
        </p:txBody>
      </p:sp>
      <p:sp>
        <p:nvSpPr>
          <p:cNvPr id="23" name="Shape 18"/>
          <p:cNvSpPr/>
          <p:nvPr/>
        </p:nvSpPr>
        <p:spPr>
          <a:xfrm>
            <a:off x="5728716" y="1417320"/>
            <a:ext cx="731520" cy="731520"/>
          </a:xfrm>
          <a:prstGeom prst="ellipse">
            <a:avLst/>
          </a:prstGeom>
          <a:solidFill>
            <a:srgbClr val="0B4F8A"/>
          </a:solidFill>
          <a:ln w="38100">
            <a:solidFill>
              <a:srgbClr val="FFFFFF"/>
            </a:solidFill>
            <a:prstDash val="solid"/>
          </a:ln>
        </p:spPr>
        <p:txBody>
          <a:bodyPr/>
          <a:lstStyle/>
          <a:p>
            <a:endParaRPr lang="en-US"/>
          </a:p>
        </p:txBody>
      </p:sp>
      <p:pic>
        <p:nvPicPr>
          <p:cNvPr id="24" name="Image 3" descr="icons/cropcut_white.png"/>
          <p:cNvPicPr>
            <a:picLocks noChangeAspect="1"/>
          </p:cNvPicPr>
          <p:nvPr/>
        </p:nvPicPr>
        <p:blipFill>
          <a:blip r:embed="rId6"/>
          <a:stretch>
            <a:fillRect/>
          </a:stretch>
        </p:blipFill>
        <p:spPr>
          <a:xfrm>
            <a:off x="5884164" y="1572768"/>
            <a:ext cx="420624" cy="420624"/>
          </a:xfrm>
          <a:prstGeom prst="rect">
            <a:avLst/>
          </a:prstGeom>
        </p:spPr>
      </p:pic>
      <p:sp>
        <p:nvSpPr>
          <p:cNvPr id="25" name="Text 19"/>
          <p:cNvSpPr/>
          <p:nvPr/>
        </p:nvSpPr>
        <p:spPr>
          <a:xfrm>
            <a:off x="5390388" y="2093976"/>
            <a:ext cx="1408176" cy="512064"/>
          </a:xfrm>
          <a:prstGeom prst="rect">
            <a:avLst/>
          </a:prstGeom>
          <a:noFill/>
          <a:ln/>
        </p:spPr>
        <p:txBody>
          <a:bodyPr wrap="square" rtlCol="0" anchor="t"/>
          <a:lstStyle/>
          <a:p>
            <a:pPr marL="0" indent="0" algn="ctr">
              <a:lnSpc>
                <a:spcPct val="100000"/>
              </a:lnSpc>
              <a:buNone/>
            </a:pPr>
            <a:r>
              <a:rPr lang="en-US" sz="1150" b="1" dirty="0">
                <a:solidFill>
                  <a:srgbClr val="0A2540"/>
                </a:solidFill>
                <a:latin typeface="Times New Roman" pitchFamily="34" charset="0"/>
                <a:ea typeface="Times New Roman" pitchFamily="34" charset="-122"/>
                <a:cs typeface="Times New Roman" pitchFamily="34" charset="-120"/>
              </a:rPr>
              <a:t>Image</a:t>
            </a:r>
            <a:endParaRPr lang="en-US" sz="1150" dirty="0"/>
          </a:p>
          <a:p>
            <a:pPr marL="0" indent="0" algn="ctr">
              <a:lnSpc>
                <a:spcPct val="100000"/>
              </a:lnSpc>
              <a:buNone/>
            </a:pPr>
            <a:r>
              <a:rPr lang="en-US" sz="1150" b="1" dirty="0">
                <a:solidFill>
                  <a:srgbClr val="0A2540"/>
                </a:solidFill>
                <a:latin typeface="Times New Roman" pitchFamily="34" charset="0"/>
                <a:ea typeface="Times New Roman" pitchFamily="34" charset="-122"/>
                <a:cs typeface="Times New Roman" pitchFamily="34" charset="-120"/>
              </a:rPr>
              <a:t>Segmentation</a:t>
            </a:r>
            <a:endParaRPr lang="en-US" sz="1150" dirty="0"/>
          </a:p>
        </p:txBody>
      </p:sp>
      <p:sp>
        <p:nvSpPr>
          <p:cNvPr id="26" name="Text 20"/>
          <p:cNvSpPr/>
          <p:nvPr/>
        </p:nvSpPr>
        <p:spPr>
          <a:xfrm>
            <a:off x="5390388" y="2606040"/>
            <a:ext cx="1408176" cy="640080"/>
          </a:xfrm>
          <a:prstGeom prst="rect">
            <a:avLst/>
          </a:prstGeom>
          <a:noFill/>
          <a:ln/>
        </p:spPr>
        <p:txBody>
          <a:bodyPr wrap="square" rtlCol="0" anchor="t"/>
          <a:lstStyle/>
          <a:p>
            <a:pPr marL="0" indent="0" algn="ctr">
              <a:lnSpc>
                <a:spcPct val="108000"/>
              </a:lnSpc>
              <a:buNone/>
            </a:pPr>
            <a:r>
              <a:rPr lang="en-US" sz="950" dirty="0">
                <a:solidFill>
                  <a:srgbClr val="374856"/>
                </a:solidFill>
                <a:latin typeface="Times New Roman" pitchFamily="34" charset="0"/>
                <a:ea typeface="Times New Roman" pitchFamily="34" charset="-122"/>
                <a:cs typeface="Times New Roman" pitchFamily="34" charset="-120"/>
              </a:rPr>
              <a:t>Isolating organs /</a:t>
            </a:r>
            <a:endParaRPr lang="en-US" sz="950" dirty="0"/>
          </a:p>
          <a:p>
            <a:pPr marL="0" indent="0" algn="ctr">
              <a:lnSpc>
                <a:spcPct val="108000"/>
              </a:lnSpc>
              <a:buNone/>
            </a:pPr>
            <a:r>
              <a:rPr lang="en-US" sz="950" dirty="0">
                <a:solidFill>
                  <a:srgbClr val="374856"/>
                </a:solidFill>
                <a:latin typeface="Times New Roman" pitchFamily="34" charset="0"/>
                <a:ea typeface="Times New Roman" pitchFamily="34" charset="-122"/>
                <a:cs typeface="Times New Roman" pitchFamily="34" charset="-120"/>
              </a:rPr>
              <a:t>regions of interest</a:t>
            </a:r>
            <a:endParaRPr lang="en-US" sz="950" dirty="0"/>
          </a:p>
        </p:txBody>
      </p:sp>
      <p:sp>
        <p:nvSpPr>
          <p:cNvPr id="27" name="Shape 21"/>
          <p:cNvSpPr/>
          <p:nvPr/>
        </p:nvSpPr>
        <p:spPr>
          <a:xfrm>
            <a:off x="6850228" y="2496312"/>
            <a:ext cx="120701" cy="146304"/>
          </a:xfrm>
          <a:prstGeom prst="rightArrow">
            <a:avLst/>
          </a:prstGeom>
          <a:solidFill>
            <a:srgbClr val="3E7FB0"/>
          </a:solidFill>
          <a:ln/>
        </p:spPr>
        <p:txBody>
          <a:bodyPr/>
          <a:lstStyle/>
          <a:p>
            <a:endParaRPr lang="en-US"/>
          </a:p>
        </p:txBody>
      </p:sp>
      <p:sp>
        <p:nvSpPr>
          <p:cNvPr id="28" name="Shape 22"/>
          <p:cNvSpPr/>
          <p:nvPr/>
        </p:nvSpPr>
        <p:spPr>
          <a:xfrm>
            <a:off x="6986016" y="1783080"/>
            <a:ext cx="1481328" cy="1572768"/>
          </a:xfrm>
          <a:prstGeom prst="roundRect">
            <a:avLst>
              <a:gd name="adj" fmla="val 5556"/>
            </a:avLst>
          </a:prstGeom>
          <a:solidFill>
            <a:srgbClr val="FFFFFF"/>
          </a:solidFill>
          <a:ln w="12700">
            <a:solidFill>
              <a:srgbClr val="D7E1E8"/>
            </a:solidFill>
            <a:prstDash val="solid"/>
          </a:ln>
        </p:spPr>
        <p:txBody>
          <a:bodyPr/>
          <a:lstStyle/>
          <a:p>
            <a:endParaRPr lang="en-US"/>
          </a:p>
        </p:txBody>
      </p:sp>
      <p:sp>
        <p:nvSpPr>
          <p:cNvPr id="29" name="Shape 23"/>
          <p:cNvSpPr/>
          <p:nvPr/>
        </p:nvSpPr>
        <p:spPr>
          <a:xfrm>
            <a:off x="7360920" y="1417320"/>
            <a:ext cx="731520" cy="731520"/>
          </a:xfrm>
          <a:prstGeom prst="ellipse">
            <a:avLst/>
          </a:prstGeom>
          <a:solidFill>
            <a:srgbClr val="0B4F8A"/>
          </a:solidFill>
          <a:ln w="38100">
            <a:solidFill>
              <a:srgbClr val="FFFFFF"/>
            </a:solidFill>
            <a:prstDash val="solid"/>
          </a:ln>
        </p:spPr>
        <p:txBody>
          <a:bodyPr/>
          <a:lstStyle/>
          <a:p>
            <a:endParaRPr lang="en-US"/>
          </a:p>
        </p:txBody>
      </p:sp>
      <p:pic>
        <p:nvPicPr>
          <p:cNvPr id="30" name="Image 4" descr="icons/target_white.png"/>
          <p:cNvPicPr>
            <a:picLocks noChangeAspect="1"/>
          </p:cNvPicPr>
          <p:nvPr/>
        </p:nvPicPr>
        <p:blipFill>
          <a:blip r:embed="rId7"/>
          <a:stretch>
            <a:fillRect/>
          </a:stretch>
        </p:blipFill>
        <p:spPr>
          <a:xfrm>
            <a:off x="7516368" y="1572768"/>
            <a:ext cx="420624" cy="420624"/>
          </a:xfrm>
          <a:prstGeom prst="rect">
            <a:avLst/>
          </a:prstGeom>
        </p:spPr>
      </p:pic>
      <p:sp>
        <p:nvSpPr>
          <p:cNvPr id="31" name="Text 24"/>
          <p:cNvSpPr/>
          <p:nvPr/>
        </p:nvSpPr>
        <p:spPr>
          <a:xfrm>
            <a:off x="7022592" y="2093976"/>
            <a:ext cx="1408176" cy="512064"/>
          </a:xfrm>
          <a:prstGeom prst="rect">
            <a:avLst/>
          </a:prstGeom>
          <a:noFill/>
          <a:ln/>
        </p:spPr>
        <p:txBody>
          <a:bodyPr wrap="square" rtlCol="0" anchor="t"/>
          <a:lstStyle/>
          <a:p>
            <a:pPr marL="0" indent="0" algn="ctr">
              <a:lnSpc>
                <a:spcPct val="100000"/>
              </a:lnSpc>
              <a:buNone/>
            </a:pPr>
            <a:r>
              <a:rPr lang="en-US" sz="1150" b="1" dirty="0">
                <a:solidFill>
                  <a:srgbClr val="0A2540"/>
                </a:solidFill>
                <a:latin typeface="Times New Roman" pitchFamily="34" charset="0"/>
                <a:ea typeface="Times New Roman" pitchFamily="34" charset="-122"/>
                <a:cs typeface="Times New Roman" pitchFamily="34" charset="-120"/>
              </a:rPr>
              <a:t>Feature</a:t>
            </a:r>
            <a:endParaRPr lang="en-US" sz="1150" dirty="0"/>
          </a:p>
          <a:p>
            <a:pPr marL="0" indent="0" algn="ctr">
              <a:lnSpc>
                <a:spcPct val="100000"/>
              </a:lnSpc>
              <a:buNone/>
            </a:pPr>
            <a:r>
              <a:rPr lang="en-US" sz="1150" b="1" dirty="0">
                <a:solidFill>
                  <a:srgbClr val="0A2540"/>
                </a:solidFill>
                <a:latin typeface="Times New Roman" pitchFamily="34" charset="0"/>
                <a:ea typeface="Times New Roman" pitchFamily="34" charset="-122"/>
                <a:cs typeface="Times New Roman" pitchFamily="34" charset="-120"/>
              </a:rPr>
              <a:t>Extraction</a:t>
            </a:r>
            <a:endParaRPr lang="en-US" sz="1150" dirty="0"/>
          </a:p>
        </p:txBody>
      </p:sp>
      <p:sp>
        <p:nvSpPr>
          <p:cNvPr id="32" name="Text 25"/>
          <p:cNvSpPr/>
          <p:nvPr/>
        </p:nvSpPr>
        <p:spPr>
          <a:xfrm>
            <a:off x="7022592" y="2606040"/>
            <a:ext cx="1408176" cy="640080"/>
          </a:xfrm>
          <a:prstGeom prst="rect">
            <a:avLst/>
          </a:prstGeom>
          <a:noFill/>
          <a:ln/>
        </p:spPr>
        <p:txBody>
          <a:bodyPr wrap="square" rtlCol="0" anchor="t"/>
          <a:lstStyle/>
          <a:p>
            <a:pPr marL="0" indent="0" algn="ctr">
              <a:lnSpc>
                <a:spcPct val="108000"/>
              </a:lnSpc>
              <a:buNone/>
            </a:pPr>
            <a:r>
              <a:rPr lang="en-US" sz="950" dirty="0">
                <a:solidFill>
                  <a:srgbClr val="374856"/>
                </a:solidFill>
                <a:latin typeface="Times New Roman" pitchFamily="34" charset="0"/>
                <a:ea typeface="Times New Roman" pitchFamily="34" charset="-122"/>
                <a:cs typeface="Times New Roman" pitchFamily="34" charset="-120"/>
              </a:rPr>
              <a:t>Identifying key</a:t>
            </a:r>
            <a:endParaRPr lang="en-US" sz="950" dirty="0"/>
          </a:p>
          <a:p>
            <a:pPr marL="0" indent="0" algn="ctr">
              <a:lnSpc>
                <a:spcPct val="108000"/>
              </a:lnSpc>
              <a:buNone/>
            </a:pPr>
            <a:r>
              <a:rPr lang="en-US" sz="950" dirty="0">
                <a:solidFill>
                  <a:srgbClr val="374856"/>
                </a:solidFill>
                <a:latin typeface="Times New Roman" pitchFamily="34" charset="0"/>
                <a:ea typeface="Times New Roman" pitchFamily="34" charset="-122"/>
                <a:cs typeface="Times New Roman" pitchFamily="34" charset="-120"/>
              </a:rPr>
              <a:t>patterns &amp; shapes</a:t>
            </a:r>
            <a:endParaRPr lang="en-US" sz="950" dirty="0"/>
          </a:p>
        </p:txBody>
      </p:sp>
      <p:sp>
        <p:nvSpPr>
          <p:cNvPr id="33" name="Shape 26"/>
          <p:cNvSpPr/>
          <p:nvPr/>
        </p:nvSpPr>
        <p:spPr>
          <a:xfrm>
            <a:off x="8482432" y="2496312"/>
            <a:ext cx="120701" cy="146304"/>
          </a:xfrm>
          <a:prstGeom prst="rightArrow">
            <a:avLst/>
          </a:prstGeom>
          <a:solidFill>
            <a:srgbClr val="3E7FB0"/>
          </a:solidFill>
          <a:ln/>
        </p:spPr>
        <p:txBody>
          <a:bodyPr/>
          <a:lstStyle/>
          <a:p>
            <a:endParaRPr lang="en-US"/>
          </a:p>
        </p:txBody>
      </p:sp>
      <p:sp>
        <p:nvSpPr>
          <p:cNvPr id="34" name="Shape 27"/>
          <p:cNvSpPr/>
          <p:nvPr/>
        </p:nvSpPr>
        <p:spPr>
          <a:xfrm>
            <a:off x="8618220" y="1783080"/>
            <a:ext cx="1481328" cy="1572768"/>
          </a:xfrm>
          <a:prstGeom prst="roundRect">
            <a:avLst>
              <a:gd name="adj" fmla="val 5556"/>
            </a:avLst>
          </a:prstGeom>
          <a:solidFill>
            <a:srgbClr val="FFFFFF"/>
          </a:solidFill>
          <a:ln w="12700">
            <a:solidFill>
              <a:srgbClr val="D7E1E8"/>
            </a:solidFill>
            <a:prstDash val="solid"/>
          </a:ln>
        </p:spPr>
        <p:txBody>
          <a:bodyPr/>
          <a:lstStyle/>
          <a:p>
            <a:endParaRPr lang="en-US"/>
          </a:p>
        </p:txBody>
      </p:sp>
      <p:sp>
        <p:nvSpPr>
          <p:cNvPr id="35" name="Shape 28"/>
          <p:cNvSpPr/>
          <p:nvPr/>
        </p:nvSpPr>
        <p:spPr>
          <a:xfrm>
            <a:off x="8993124" y="1417320"/>
            <a:ext cx="731520" cy="731520"/>
          </a:xfrm>
          <a:prstGeom prst="ellipse">
            <a:avLst/>
          </a:prstGeom>
          <a:solidFill>
            <a:srgbClr val="0B4F8A"/>
          </a:solidFill>
          <a:ln w="38100">
            <a:solidFill>
              <a:srgbClr val="FFFFFF"/>
            </a:solidFill>
            <a:prstDash val="solid"/>
          </a:ln>
        </p:spPr>
        <p:txBody>
          <a:bodyPr/>
          <a:lstStyle/>
          <a:p>
            <a:endParaRPr lang="en-US"/>
          </a:p>
        </p:txBody>
      </p:sp>
      <p:pic>
        <p:nvPicPr>
          <p:cNvPr id="36" name="Image 5" descr="icons/ai_chip_white.png"/>
          <p:cNvPicPr>
            <a:picLocks noChangeAspect="1"/>
          </p:cNvPicPr>
          <p:nvPr/>
        </p:nvPicPr>
        <p:blipFill>
          <a:blip r:embed="rId8"/>
          <a:stretch>
            <a:fillRect/>
          </a:stretch>
        </p:blipFill>
        <p:spPr>
          <a:xfrm>
            <a:off x="9148572" y="1572768"/>
            <a:ext cx="420624" cy="420624"/>
          </a:xfrm>
          <a:prstGeom prst="rect">
            <a:avLst/>
          </a:prstGeom>
        </p:spPr>
      </p:pic>
      <p:sp>
        <p:nvSpPr>
          <p:cNvPr id="37" name="Text 29"/>
          <p:cNvSpPr/>
          <p:nvPr/>
        </p:nvSpPr>
        <p:spPr>
          <a:xfrm>
            <a:off x="8654796" y="2093976"/>
            <a:ext cx="1408176" cy="512064"/>
          </a:xfrm>
          <a:prstGeom prst="rect">
            <a:avLst/>
          </a:prstGeom>
          <a:noFill/>
          <a:ln/>
        </p:spPr>
        <p:txBody>
          <a:bodyPr wrap="square" rtlCol="0" anchor="t"/>
          <a:lstStyle/>
          <a:p>
            <a:pPr marL="0" indent="0" algn="ctr">
              <a:lnSpc>
                <a:spcPct val="100000"/>
              </a:lnSpc>
              <a:buNone/>
            </a:pPr>
            <a:r>
              <a:rPr lang="en-US" sz="1150" b="1" dirty="0">
                <a:solidFill>
                  <a:srgbClr val="0A2540"/>
                </a:solidFill>
                <a:latin typeface="Times New Roman" pitchFamily="34" charset="0"/>
                <a:ea typeface="Times New Roman" pitchFamily="34" charset="-122"/>
                <a:cs typeface="Times New Roman" pitchFamily="34" charset="-120"/>
              </a:rPr>
              <a:t>AI</a:t>
            </a:r>
            <a:endParaRPr lang="en-US" sz="1150" dirty="0"/>
          </a:p>
          <a:p>
            <a:pPr marL="0" indent="0" algn="ctr">
              <a:lnSpc>
                <a:spcPct val="100000"/>
              </a:lnSpc>
              <a:buNone/>
            </a:pPr>
            <a:r>
              <a:rPr lang="en-US" sz="1150" b="1" dirty="0">
                <a:solidFill>
                  <a:srgbClr val="0A2540"/>
                </a:solidFill>
                <a:latin typeface="Times New Roman" pitchFamily="34" charset="0"/>
                <a:ea typeface="Times New Roman" pitchFamily="34" charset="-122"/>
                <a:cs typeface="Times New Roman" pitchFamily="34" charset="-120"/>
              </a:rPr>
              <a:t>Classification</a:t>
            </a:r>
            <a:endParaRPr lang="en-US" sz="1150" dirty="0"/>
          </a:p>
        </p:txBody>
      </p:sp>
      <p:sp>
        <p:nvSpPr>
          <p:cNvPr id="38" name="Text 30"/>
          <p:cNvSpPr/>
          <p:nvPr/>
        </p:nvSpPr>
        <p:spPr>
          <a:xfrm>
            <a:off x="8654796" y="2606040"/>
            <a:ext cx="1408176" cy="640080"/>
          </a:xfrm>
          <a:prstGeom prst="rect">
            <a:avLst/>
          </a:prstGeom>
          <a:noFill/>
          <a:ln/>
        </p:spPr>
        <p:txBody>
          <a:bodyPr wrap="square" rtlCol="0" anchor="t"/>
          <a:lstStyle/>
          <a:p>
            <a:pPr marL="0" indent="0" algn="ctr">
              <a:lnSpc>
                <a:spcPct val="108000"/>
              </a:lnSpc>
              <a:buNone/>
            </a:pPr>
            <a:r>
              <a:rPr lang="en-US" sz="950" dirty="0">
                <a:solidFill>
                  <a:srgbClr val="374856"/>
                </a:solidFill>
                <a:latin typeface="Times New Roman" pitchFamily="34" charset="0"/>
                <a:ea typeface="Times New Roman" pitchFamily="34" charset="-122"/>
                <a:cs typeface="Times New Roman" pitchFamily="34" charset="-120"/>
              </a:rPr>
              <a:t>Model analyzes</a:t>
            </a:r>
            <a:endParaRPr lang="en-US" sz="950" dirty="0"/>
          </a:p>
          <a:p>
            <a:pPr marL="0" indent="0" algn="ctr">
              <a:lnSpc>
                <a:spcPct val="108000"/>
              </a:lnSpc>
              <a:buNone/>
            </a:pPr>
            <a:r>
              <a:rPr lang="en-US" sz="950" dirty="0">
                <a:solidFill>
                  <a:srgbClr val="374856"/>
                </a:solidFill>
                <a:latin typeface="Times New Roman" pitchFamily="34" charset="0"/>
                <a:ea typeface="Times New Roman" pitchFamily="34" charset="-122"/>
                <a:cs typeface="Times New Roman" pitchFamily="34" charset="-120"/>
              </a:rPr>
              <a:t>features</a:t>
            </a:r>
            <a:endParaRPr lang="en-US" sz="950" dirty="0"/>
          </a:p>
        </p:txBody>
      </p:sp>
      <p:sp>
        <p:nvSpPr>
          <p:cNvPr id="39" name="Shape 31"/>
          <p:cNvSpPr/>
          <p:nvPr/>
        </p:nvSpPr>
        <p:spPr>
          <a:xfrm>
            <a:off x="10114636" y="2496312"/>
            <a:ext cx="120701" cy="146304"/>
          </a:xfrm>
          <a:prstGeom prst="rightArrow">
            <a:avLst/>
          </a:prstGeom>
          <a:solidFill>
            <a:srgbClr val="3E7FB0"/>
          </a:solidFill>
          <a:ln/>
        </p:spPr>
        <p:txBody>
          <a:bodyPr/>
          <a:lstStyle/>
          <a:p>
            <a:endParaRPr lang="en-US"/>
          </a:p>
        </p:txBody>
      </p:sp>
      <p:sp>
        <p:nvSpPr>
          <p:cNvPr id="40" name="Shape 32"/>
          <p:cNvSpPr/>
          <p:nvPr/>
        </p:nvSpPr>
        <p:spPr>
          <a:xfrm>
            <a:off x="10250424" y="1783080"/>
            <a:ext cx="1481328" cy="1572768"/>
          </a:xfrm>
          <a:prstGeom prst="roundRect">
            <a:avLst>
              <a:gd name="adj" fmla="val 5556"/>
            </a:avLst>
          </a:prstGeom>
          <a:solidFill>
            <a:srgbClr val="FFFFFF"/>
          </a:solidFill>
          <a:ln w="12700">
            <a:solidFill>
              <a:srgbClr val="D7E1E8"/>
            </a:solidFill>
            <a:prstDash val="solid"/>
          </a:ln>
        </p:spPr>
        <p:txBody>
          <a:bodyPr/>
          <a:lstStyle/>
          <a:p>
            <a:endParaRPr lang="en-US"/>
          </a:p>
        </p:txBody>
      </p:sp>
      <p:sp>
        <p:nvSpPr>
          <p:cNvPr id="41" name="Shape 33"/>
          <p:cNvSpPr/>
          <p:nvPr/>
        </p:nvSpPr>
        <p:spPr>
          <a:xfrm>
            <a:off x="10625328" y="1417320"/>
            <a:ext cx="731520" cy="731520"/>
          </a:xfrm>
          <a:prstGeom prst="ellipse">
            <a:avLst/>
          </a:prstGeom>
          <a:solidFill>
            <a:srgbClr val="2FB8A6"/>
          </a:solidFill>
          <a:ln w="38100">
            <a:solidFill>
              <a:srgbClr val="FFFFFF"/>
            </a:solidFill>
            <a:prstDash val="solid"/>
          </a:ln>
        </p:spPr>
        <p:txBody>
          <a:bodyPr/>
          <a:lstStyle/>
          <a:p>
            <a:endParaRPr lang="en-US"/>
          </a:p>
        </p:txBody>
      </p:sp>
      <p:pic>
        <p:nvPicPr>
          <p:cNvPr id="42" name="Image 6" descr="icons/check_white.png"/>
          <p:cNvPicPr>
            <a:picLocks noChangeAspect="1"/>
          </p:cNvPicPr>
          <p:nvPr/>
        </p:nvPicPr>
        <p:blipFill>
          <a:blip r:embed="rId9"/>
          <a:stretch>
            <a:fillRect/>
          </a:stretch>
        </p:blipFill>
        <p:spPr>
          <a:xfrm>
            <a:off x="10780776" y="1572768"/>
            <a:ext cx="420624" cy="420624"/>
          </a:xfrm>
          <a:prstGeom prst="rect">
            <a:avLst/>
          </a:prstGeom>
        </p:spPr>
      </p:pic>
      <p:sp>
        <p:nvSpPr>
          <p:cNvPr id="43" name="Text 34"/>
          <p:cNvSpPr/>
          <p:nvPr/>
        </p:nvSpPr>
        <p:spPr>
          <a:xfrm>
            <a:off x="10287000" y="2093976"/>
            <a:ext cx="1408176" cy="512064"/>
          </a:xfrm>
          <a:prstGeom prst="rect">
            <a:avLst/>
          </a:prstGeom>
          <a:noFill/>
          <a:ln/>
        </p:spPr>
        <p:txBody>
          <a:bodyPr wrap="square" rtlCol="0" anchor="t"/>
          <a:lstStyle/>
          <a:p>
            <a:pPr marL="0" indent="0" algn="ctr">
              <a:lnSpc>
                <a:spcPct val="100000"/>
              </a:lnSpc>
              <a:buNone/>
            </a:pPr>
            <a:r>
              <a:rPr lang="en-US" sz="1150" b="1" dirty="0">
                <a:solidFill>
                  <a:srgbClr val="0A2540"/>
                </a:solidFill>
                <a:latin typeface="Times New Roman" pitchFamily="34" charset="0"/>
                <a:ea typeface="Times New Roman" pitchFamily="34" charset="-122"/>
                <a:cs typeface="Times New Roman" pitchFamily="34" charset="-120"/>
              </a:rPr>
              <a:t>Disease</a:t>
            </a:r>
            <a:endParaRPr lang="en-US" sz="1150" dirty="0"/>
          </a:p>
          <a:p>
            <a:pPr marL="0" indent="0" algn="ctr">
              <a:lnSpc>
                <a:spcPct val="100000"/>
              </a:lnSpc>
              <a:buNone/>
            </a:pPr>
            <a:r>
              <a:rPr lang="en-US" sz="1150" b="1" dirty="0">
                <a:solidFill>
                  <a:srgbClr val="0A2540"/>
                </a:solidFill>
                <a:latin typeface="Times New Roman" pitchFamily="34" charset="0"/>
                <a:ea typeface="Times New Roman" pitchFamily="34" charset="-122"/>
                <a:cs typeface="Times New Roman" pitchFamily="34" charset="-120"/>
              </a:rPr>
              <a:t>Detection</a:t>
            </a:r>
            <a:endParaRPr lang="en-US" sz="1150" dirty="0"/>
          </a:p>
        </p:txBody>
      </p:sp>
      <p:sp>
        <p:nvSpPr>
          <p:cNvPr id="44" name="Text 35"/>
          <p:cNvSpPr/>
          <p:nvPr/>
        </p:nvSpPr>
        <p:spPr>
          <a:xfrm>
            <a:off x="10287000" y="2606040"/>
            <a:ext cx="1408176" cy="640080"/>
          </a:xfrm>
          <a:prstGeom prst="rect">
            <a:avLst/>
          </a:prstGeom>
          <a:noFill/>
          <a:ln/>
        </p:spPr>
        <p:txBody>
          <a:bodyPr wrap="square" rtlCol="0" anchor="t"/>
          <a:lstStyle/>
          <a:p>
            <a:pPr marL="0" indent="0" algn="ctr">
              <a:lnSpc>
                <a:spcPct val="108000"/>
              </a:lnSpc>
              <a:buNone/>
            </a:pPr>
            <a:r>
              <a:rPr lang="en-US" sz="950" dirty="0">
                <a:solidFill>
                  <a:srgbClr val="374856"/>
                </a:solidFill>
                <a:latin typeface="Times New Roman" pitchFamily="34" charset="0"/>
                <a:ea typeface="Times New Roman" pitchFamily="34" charset="-122"/>
                <a:cs typeface="Times New Roman" pitchFamily="34" charset="-120"/>
              </a:rPr>
              <a:t>Final diagnostic</a:t>
            </a:r>
            <a:endParaRPr lang="en-US" sz="950" dirty="0"/>
          </a:p>
          <a:p>
            <a:pPr marL="0" indent="0" algn="ctr">
              <a:lnSpc>
                <a:spcPct val="108000"/>
              </a:lnSpc>
              <a:buNone/>
            </a:pPr>
            <a:r>
              <a:rPr lang="en-US" sz="950" dirty="0">
                <a:solidFill>
                  <a:srgbClr val="374856"/>
                </a:solidFill>
                <a:latin typeface="Times New Roman" pitchFamily="34" charset="0"/>
                <a:ea typeface="Times New Roman" pitchFamily="34" charset="-122"/>
                <a:cs typeface="Times New Roman" pitchFamily="34" charset="-120"/>
              </a:rPr>
              <a:t>output</a:t>
            </a:r>
            <a:endParaRPr lang="en-US" sz="950" dirty="0"/>
          </a:p>
        </p:txBody>
      </p:sp>
      <p:sp>
        <p:nvSpPr>
          <p:cNvPr id="45" name="Shape 36"/>
          <p:cNvSpPr/>
          <p:nvPr/>
        </p:nvSpPr>
        <p:spPr>
          <a:xfrm>
            <a:off x="457200" y="3794760"/>
            <a:ext cx="11274552" cy="1783080"/>
          </a:xfrm>
          <a:prstGeom prst="roundRect">
            <a:avLst>
              <a:gd name="adj" fmla="val 4103"/>
            </a:avLst>
          </a:prstGeom>
          <a:solidFill>
            <a:srgbClr val="FFFFFF"/>
          </a:solidFill>
          <a:ln w="12700">
            <a:solidFill>
              <a:srgbClr val="D7E1E8"/>
            </a:solidFill>
            <a:prstDash val="solid"/>
          </a:ln>
        </p:spPr>
        <p:txBody>
          <a:bodyPr/>
          <a:lstStyle/>
          <a:p>
            <a:endParaRPr lang="en-US"/>
          </a:p>
        </p:txBody>
      </p:sp>
      <p:sp>
        <p:nvSpPr>
          <p:cNvPr id="46" name="Shape 37"/>
          <p:cNvSpPr/>
          <p:nvPr/>
        </p:nvSpPr>
        <p:spPr>
          <a:xfrm>
            <a:off x="685800" y="4023360"/>
            <a:ext cx="530352" cy="530352"/>
          </a:xfrm>
          <a:prstGeom prst="ellipse">
            <a:avLst/>
          </a:prstGeom>
          <a:solidFill>
            <a:srgbClr val="0A2540"/>
          </a:solidFill>
          <a:ln/>
        </p:spPr>
        <p:txBody>
          <a:bodyPr/>
          <a:lstStyle/>
          <a:p>
            <a:endParaRPr lang="en-US"/>
          </a:p>
        </p:txBody>
      </p:sp>
      <p:pic>
        <p:nvPicPr>
          <p:cNvPr id="47" name="Image 7" descr="icons/eye_white.png"/>
          <p:cNvPicPr>
            <a:picLocks noChangeAspect="1"/>
          </p:cNvPicPr>
          <p:nvPr/>
        </p:nvPicPr>
        <p:blipFill>
          <a:blip r:embed="rId10"/>
          <a:stretch>
            <a:fillRect/>
          </a:stretch>
        </p:blipFill>
        <p:spPr>
          <a:xfrm>
            <a:off x="823468" y="4138168"/>
            <a:ext cx="306324" cy="306324"/>
          </a:xfrm>
          <a:prstGeom prst="rect">
            <a:avLst/>
          </a:prstGeom>
        </p:spPr>
      </p:pic>
      <p:sp>
        <p:nvSpPr>
          <p:cNvPr id="48" name="Text 38"/>
          <p:cNvSpPr/>
          <p:nvPr/>
        </p:nvSpPr>
        <p:spPr>
          <a:xfrm>
            <a:off x="1371600" y="3986784"/>
            <a:ext cx="5486400" cy="329184"/>
          </a:xfrm>
          <a:prstGeom prst="rect">
            <a:avLst/>
          </a:prstGeom>
          <a:noFill/>
          <a:ln/>
        </p:spPr>
        <p:txBody>
          <a:bodyPr wrap="square" rtlCol="0" anchor="ctr"/>
          <a:lstStyle/>
          <a:p>
            <a:pPr marL="0" indent="0">
              <a:buNone/>
            </a:pPr>
            <a:r>
              <a:rPr lang="en-US" sz="1500" b="1" dirty="0">
                <a:solidFill>
                  <a:srgbClr val="0A2540"/>
                </a:solidFill>
                <a:latin typeface="Times New Roman" pitchFamily="34" charset="0"/>
                <a:ea typeface="Times New Roman" pitchFamily="34" charset="-122"/>
                <a:cs typeface="Times New Roman" pitchFamily="34" charset="-120"/>
              </a:rPr>
              <a:t>Why Computer Vision Matters</a:t>
            </a:r>
            <a:endParaRPr lang="en-US" sz="1500" dirty="0"/>
          </a:p>
        </p:txBody>
      </p:sp>
      <p:sp>
        <p:nvSpPr>
          <p:cNvPr id="49" name="Text 39"/>
          <p:cNvSpPr/>
          <p:nvPr/>
        </p:nvSpPr>
        <p:spPr>
          <a:xfrm>
            <a:off x="1371600" y="4352544"/>
            <a:ext cx="10085832" cy="566928"/>
          </a:xfrm>
          <a:prstGeom prst="rect">
            <a:avLst/>
          </a:prstGeom>
          <a:noFill/>
          <a:ln/>
        </p:spPr>
        <p:txBody>
          <a:bodyPr wrap="square" rtlCol="0" anchor="ctr"/>
          <a:lstStyle/>
          <a:p>
            <a:pPr marL="0" indent="0">
              <a:lnSpc>
                <a:spcPct val="118000"/>
              </a:lnSpc>
              <a:buNone/>
            </a:pPr>
            <a:r>
              <a:rPr lang="en-US" sz="1200" dirty="0">
                <a:solidFill>
                  <a:srgbClr val="374856"/>
                </a:solidFill>
                <a:latin typeface="Times New Roman" pitchFamily="34" charset="0"/>
                <a:ea typeface="Times New Roman" pitchFamily="34" charset="-122"/>
                <a:cs typeface="Times New Roman" pitchFamily="34" charset="-120"/>
              </a:rPr>
              <a:t>Computer vision gives the AI system the ability to "see" and interpret an MRI scan the way a radiologist does — locating structures, measuring shapes, and recognizing patterns linked to disease, entirely from pixel data.</a:t>
            </a:r>
            <a:endParaRPr lang="en-US" sz="1200" dirty="0"/>
          </a:p>
        </p:txBody>
      </p:sp>
      <p:sp>
        <p:nvSpPr>
          <p:cNvPr id="50" name="Shape 40"/>
          <p:cNvSpPr/>
          <p:nvPr/>
        </p:nvSpPr>
        <p:spPr>
          <a:xfrm>
            <a:off x="685800" y="5029200"/>
            <a:ext cx="10817352" cy="475488"/>
          </a:xfrm>
          <a:prstGeom prst="roundRect">
            <a:avLst>
              <a:gd name="adj" fmla="val 13462"/>
            </a:avLst>
          </a:prstGeom>
          <a:solidFill>
            <a:srgbClr val="E7EFF5"/>
          </a:solidFill>
          <a:ln w="12700">
            <a:solidFill>
              <a:srgbClr val="3E7FB0"/>
            </a:solidFill>
            <a:prstDash val="solid"/>
          </a:ln>
        </p:spPr>
        <p:txBody>
          <a:bodyPr/>
          <a:lstStyle/>
          <a:p>
            <a:endParaRPr lang="en-US"/>
          </a:p>
        </p:txBody>
      </p:sp>
      <p:pic>
        <p:nvPicPr>
          <p:cNvPr id="51" name="Image 8" descr="icons/fileMed_blue.png"/>
          <p:cNvPicPr>
            <a:picLocks noChangeAspect="1"/>
          </p:cNvPicPr>
          <p:nvPr/>
        </p:nvPicPr>
        <p:blipFill>
          <a:blip r:embed="rId11"/>
          <a:stretch>
            <a:fillRect/>
          </a:stretch>
        </p:blipFill>
        <p:spPr>
          <a:xfrm>
            <a:off x="841248" y="5111496"/>
            <a:ext cx="310896" cy="310896"/>
          </a:xfrm>
          <a:prstGeom prst="rect">
            <a:avLst/>
          </a:prstGeom>
        </p:spPr>
      </p:pic>
      <p:sp>
        <p:nvSpPr>
          <p:cNvPr id="52" name="Text 41"/>
          <p:cNvSpPr/>
          <p:nvPr/>
        </p:nvSpPr>
        <p:spPr>
          <a:xfrm>
            <a:off x="1261872" y="5029200"/>
            <a:ext cx="10222992" cy="475488"/>
          </a:xfrm>
          <a:prstGeom prst="rect">
            <a:avLst/>
          </a:prstGeom>
          <a:noFill/>
          <a:ln/>
        </p:spPr>
        <p:txBody>
          <a:bodyPr wrap="square" rtlCol="0" anchor="ctr"/>
          <a:lstStyle/>
          <a:p>
            <a:pPr marL="0" indent="0">
              <a:lnSpc>
                <a:spcPct val="105000"/>
              </a:lnSpc>
              <a:buNone/>
            </a:pPr>
            <a:r>
              <a:rPr lang="en-US" sz="1050" b="1" dirty="0">
                <a:solidFill>
                  <a:srgbClr val="0A2540"/>
                </a:solidFill>
                <a:latin typeface="Times New Roman" pitchFamily="34" charset="0"/>
                <a:ea typeface="Times New Roman" pitchFamily="34" charset="-122"/>
                <a:cs typeface="Times New Roman" pitchFamily="34" charset="-120"/>
              </a:rPr>
              <a:t>Research reference: </a:t>
            </a:r>
            <a:r>
              <a:rPr lang="en-US" sz="1050" dirty="0">
                <a:solidFill>
                  <a:srgbClr val="374856"/>
                </a:solidFill>
                <a:latin typeface="Times New Roman" pitchFamily="34" charset="0"/>
                <a:ea typeface="Times New Roman" pitchFamily="34" charset="-122"/>
                <a:cs typeface="Times New Roman" pitchFamily="34" charset="-120"/>
              </a:rPr>
              <a:t>Krolik et al., “MRI Brain Tumor Detection with Computer Vision,” arXiv:2510.10250 (2025) — reports CNN, ResNet, U-Net segmentation, and EfficientDet models improving brain tumor detection accuracy, matching this exact pipeline.</a:t>
            </a:r>
            <a:endParaRPr lang="en-US" sz="1050" dirty="0"/>
          </a:p>
        </p:txBody>
      </p:sp>
      <p:sp>
        <p:nvSpPr>
          <p:cNvPr id="53" name="Text 42"/>
          <p:cNvSpPr/>
          <p:nvPr/>
        </p:nvSpPr>
        <p:spPr>
          <a:xfrm>
            <a:off x="457200" y="6492240"/>
            <a:ext cx="6400800" cy="292608"/>
          </a:xfrm>
          <a:prstGeom prst="rect">
            <a:avLst/>
          </a:prstGeom>
          <a:noFill/>
          <a:ln/>
        </p:spPr>
        <p:txBody>
          <a:bodyPr wrap="square" rtlCol="0" anchor="ctr"/>
          <a:lstStyle/>
          <a:p>
            <a:pPr marL="0" indent="0" algn="l">
              <a:buNone/>
            </a:pPr>
            <a:r>
              <a:rPr lang="en-US" sz="1050" dirty="0">
                <a:solidFill>
                  <a:srgbClr val="4C606D"/>
                </a:solidFill>
                <a:latin typeface="Times New Roman" pitchFamily="34" charset="0"/>
                <a:ea typeface="Times New Roman" pitchFamily="34" charset="-122"/>
                <a:cs typeface="Times New Roman" pitchFamily="34" charset="-120"/>
              </a:rPr>
              <a:t>Medical AI System for MRI Image Analysis</a:t>
            </a:r>
            <a:endParaRPr lang="en-US" sz="1050" dirty="0"/>
          </a:p>
        </p:txBody>
      </p:sp>
      <p:sp>
        <p:nvSpPr>
          <p:cNvPr id="54" name="Text 43"/>
          <p:cNvSpPr/>
          <p:nvPr/>
        </p:nvSpPr>
        <p:spPr>
          <a:xfrm>
            <a:off x="11274552" y="6492240"/>
            <a:ext cx="457200" cy="292608"/>
          </a:xfrm>
          <a:prstGeom prst="rect">
            <a:avLst/>
          </a:prstGeom>
          <a:noFill/>
          <a:ln/>
        </p:spPr>
        <p:txBody>
          <a:bodyPr wrap="square" rtlCol="0" anchor="ctr"/>
          <a:lstStyle/>
          <a:p>
            <a:pPr marL="0" indent="0" algn="r">
              <a:buNone/>
            </a:pPr>
            <a:r>
              <a:rPr lang="en-US" sz="1050" dirty="0">
                <a:solidFill>
                  <a:srgbClr val="4C606D"/>
                </a:solidFill>
                <a:latin typeface="Times New Roman" pitchFamily="34" charset="0"/>
                <a:ea typeface="Times New Roman" pitchFamily="34" charset="-122"/>
                <a:cs typeface="Times New Roman" pitchFamily="34" charset="-120"/>
              </a:rPr>
              <a:t>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7315200" cy="566928"/>
          </a:xfrm>
          <a:prstGeom prst="rect">
            <a:avLst/>
          </a:prstGeom>
          <a:noFill/>
          <a:ln/>
        </p:spPr>
        <p:txBody>
          <a:bodyPr wrap="square" rtlCol="0" anchor="ctr"/>
          <a:lstStyle/>
          <a:p>
            <a:pPr marL="0" indent="0">
              <a:buNone/>
            </a:pPr>
            <a:r>
              <a:rPr lang="en-US" sz="3200" b="1" dirty="0">
                <a:solidFill>
                  <a:srgbClr val="0A2540"/>
                </a:solidFill>
                <a:latin typeface="Times New Roman" pitchFamily="34" charset="0"/>
                <a:ea typeface="Times New Roman" pitchFamily="34" charset="-122"/>
                <a:cs typeface="Times New Roman" pitchFamily="34" charset="-120"/>
              </a:rPr>
              <a:t>Image Formation</a:t>
            </a:r>
            <a:endParaRPr lang="en-US" sz="3200" dirty="0"/>
          </a:p>
        </p:txBody>
      </p:sp>
      <p:sp>
        <p:nvSpPr>
          <p:cNvPr id="3" name="Text 1"/>
          <p:cNvSpPr/>
          <p:nvPr/>
        </p:nvSpPr>
        <p:spPr>
          <a:xfrm>
            <a:off x="548640" y="896112"/>
            <a:ext cx="7315200" cy="329184"/>
          </a:xfrm>
          <a:prstGeom prst="rect">
            <a:avLst/>
          </a:prstGeom>
          <a:noFill/>
          <a:ln/>
        </p:spPr>
        <p:txBody>
          <a:bodyPr wrap="square" rtlCol="0" anchor="ctr"/>
          <a:lstStyle/>
          <a:p>
            <a:pPr marL="0" indent="0">
              <a:buNone/>
            </a:pPr>
            <a:r>
              <a:rPr lang="en-US" sz="1400" i="1" dirty="0">
                <a:solidFill>
                  <a:srgbClr val="374856"/>
                </a:solidFill>
                <a:latin typeface="Times New Roman" pitchFamily="34" charset="0"/>
                <a:ea typeface="Times New Roman" pitchFamily="34" charset="-122"/>
                <a:cs typeface="Times New Roman" pitchFamily="34" charset="-120"/>
              </a:rPr>
              <a:t>How the physical MRI signal becomes a viewable image</a:t>
            </a:r>
            <a:endParaRPr lang="en-US" sz="1400" dirty="0"/>
          </a:p>
        </p:txBody>
      </p:sp>
      <p:sp>
        <p:nvSpPr>
          <p:cNvPr id="4" name="Shape 2"/>
          <p:cNvSpPr/>
          <p:nvPr/>
        </p:nvSpPr>
        <p:spPr>
          <a:xfrm>
            <a:off x="548640" y="1691640"/>
            <a:ext cx="2395728" cy="3337560"/>
          </a:xfrm>
          <a:prstGeom prst="roundRect">
            <a:avLst>
              <a:gd name="adj" fmla="val 3817"/>
            </a:avLst>
          </a:prstGeom>
          <a:solidFill>
            <a:srgbClr val="E7EFF5"/>
          </a:solidFill>
          <a:ln w="12700">
            <a:solidFill>
              <a:srgbClr val="D7E1E8"/>
            </a:solidFill>
            <a:prstDash val="solid"/>
          </a:ln>
        </p:spPr>
        <p:txBody>
          <a:bodyPr/>
          <a:lstStyle/>
          <a:p>
            <a:endParaRPr lang="en-US"/>
          </a:p>
        </p:txBody>
      </p:sp>
      <p:sp>
        <p:nvSpPr>
          <p:cNvPr id="5" name="Shape 3"/>
          <p:cNvSpPr/>
          <p:nvPr/>
        </p:nvSpPr>
        <p:spPr>
          <a:xfrm>
            <a:off x="713232" y="1856232"/>
            <a:ext cx="420624" cy="420624"/>
          </a:xfrm>
          <a:prstGeom prst="ellipse">
            <a:avLst/>
          </a:prstGeom>
          <a:solidFill>
            <a:srgbClr val="0A2540"/>
          </a:solidFill>
          <a:ln/>
        </p:spPr>
        <p:txBody>
          <a:bodyPr/>
          <a:lstStyle/>
          <a:p>
            <a:endParaRPr lang="en-US"/>
          </a:p>
        </p:txBody>
      </p:sp>
      <p:sp>
        <p:nvSpPr>
          <p:cNvPr id="6" name="Text 4"/>
          <p:cNvSpPr/>
          <p:nvPr/>
        </p:nvSpPr>
        <p:spPr>
          <a:xfrm>
            <a:off x="713232" y="1856232"/>
            <a:ext cx="420624" cy="420624"/>
          </a:xfrm>
          <a:prstGeom prst="rect">
            <a:avLst/>
          </a:prstGeom>
          <a:noFill/>
          <a:ln/>
        </p:spPr>
        <p:txBody>
          <a:bodyPr wrap="square"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1</a:t>
            </a:r>
            <a:endParaRPr lang="en-US" sz="1600" dirty="0"/>
          </a:p>
        </p:txBody>
      </p:sp>
      <p:sp>
        <p:nvSpPr>
          <p:cNvPr id="7" name="Shape 5"/>
          <p:cNvSpPr/>
          <p:nvPr/>
        </p:nvSpPr>
        <p:spPr>
          <a:xfrm>
            <a:off x="1252728" y="2194560"/>
            <a:ext cx="987552" cy="987552"/>
          </a:xfrm>
          <a:prstGeom prst="ellipse">
            <a:avLst/>
          </a:prstGeom>
          <a:solidFill>
            <a:srgbClr val="0B4F8A"/>
          </a:solidFill>
          <a:ln/>
        </p:spPr>
        <p:txBody>
          <a:bodyPr/>
          <a:lstStyle/>
          <a:p>
            <a:endParaRPr lang="en-US"/>
          </a:p>
        </p:txBody>
      </p:sp>
      <p:pic>
        <p:nvPicPr>
          <p:cNvPr id="8" name="Image 0" descr="icons/magnet_white.png"/>
          <p:cNvPicPr>
            <a:picLocks noChangeAspect="1"/>
          </p:cNvPicPr>
          <p:nvPr/>
        </p:nvPicPr>
        <p:blipFill>
          <a:blip r:embed="rId3"/>
          <a:stretch>
            <a:fillRect/>
          </a:stretch>
        </p:blipFill>
        <p:spPr>
          <a:xfrm>
            <a:off x="1453896" y="2395728"/>
            <a:ext cx="585216" cy="585216"/>
          </a:xfrm>
          <a:prstGeom prst="rect">
            <a:avLst/>
          </a:prstGeom>
        </p:spPr>
      </p:pic>
      <p:sp>
        <p:nvSpPr>
          <p:cNvPr id="9" name="Text 6"/>
          <p:cNvSpPr/>
          <p:nvPr/>
        </p:nvSpPr>
        <p:spPr>
          <a:xfrm>
            <a:off x="667512" y="3291840"/>
            <a:ext cx="2157984" cy="585216"/>
          </a:xfrm>
          <a:prstGeom prst="rect">
            <a:avLst/>
          </a:prstGeom>
          <a:noFill/>
          <a:ln/>
        </p:spPr>
        <p:txBody>
          <a:bodyPr wrap="square" rtlCol="0" anchor="ctr"/>
          <a:lstStyle/>
          <a:p>
            <a:pPr marL="0" indent="0" algn="ctr">
              <a:lnSpc>
                <a:spcPct val="100000"/>
              </a:lnSpc>
              <a:buNone/>
            </a:pPr>
            <a:r>
              <a:rPr lang="en-US" sz="1500" b="1" dirty="0">
                <a:solidFill>
                  <a:srgbClr val="0A2540"/>
                </a:solidFill>
                <a:latin typeface="Times New Roman" pitchFamily="34" charset="0"/>
                <a:ea typeface="Times New Roman" pitchFamily="34" charset="-122"/>
                <a:cs typeface="Times New Roman" pitchFamily="34" charset="-120"/>
              </a:rPr>
              <a:t>Magnetic Field</a:t>
            </a:r>
            <a:endParaRPr lang="en-US" sz="1500" dirty="0"/>
          </a:p>
          <a:p>
            <a:pPr marL="0" indent="0" algn="ctr">
              <a:lnSpc>
                <a:spcPct val="100000"/>
              </a:lnSpc>
              <a:buNone/>
            </a:pPr>
            <a:r>
              <a:rPr lang="en-US" sz="1500" b="1" dirty="0">
                <a:solidFill>
                  <a:srgbClr val="0A2540"/>
                </a:solidFill>
                <a:latin typeface="Times New Roman" pitchFamily="34" charset="0"/>
                <a:ea typeface="Times New Roman" pitchFamily="34" charset="-122"/>
                <a:cs typeface="Times New Roman" pitchFamily="34" charset="-120"/>
              </a:rPr>
              <a:t>Alignment</a:t>
            </a:r>
            <a:endParaRPr lang="en-US" sz="1500" dirty="0"/>
          </a:p>
        </p:txBody>
      </p:sp>
      <p:sp>
        <p:nvSpPr>
          <p:cNvPr id="10" name="Text 7"/>
          <p:cNvSpPr/>
          <p:nvPr/>
        </p:nvSpPr>
        <p:spPr>
          <a:xfrm>
            <a:off x="713232" y="3904488"/>
            <a:ext cx="2066544" cy="1051560"/>
          </a:xfrm>
          <a:prstGeom prst="rect">
            <a:avLst/>
          </a:prstGeom>
          <a:noFill/>
          <a:ln/>
        </p:spPr>
        <p:txBody>
          <a:bodyPr wrap="square" rtlCol="0" anchor="ctr"/>
          <a:lstStyle/>
          <a:p>
            <a:pPr marL="0" indent="0" algn="ctr">
              <a:lnSpc>
                <a:spcPct val="118000"/>
              </a:lnSpc>
              <a:buNone/>
            </a:pPr>
            <a:r>
              <a:rPr lang="en-US" sz="1150" dirty="0">
                <a:solidFill>
                  <a:srgbClr val="374856"/>
                </a:solidFill>
                <a:latin typeface="Times New Roman" pitchFamily="34" charset="0"/>
                <a:ea typeface="Times New Roman" pitchFamily="34" charset="-122"/>
                <a:cs typeface="Times New Roman" pitchFamily="34" charset="-120"/>
              </a:rPr>
              <a:t>A powerful magnetic field aligns the spin of hydrogen atoms (protons) in the body's water and fat molecules.</a:t>
            </a:r>
            <a:endParaRPr lang="en-US" sz="1150" dirty="0"/>
          </a:p>
        </p:txBody>
      </p:sp>
      <p:sp>
        <p:nvSpPr>
          <p:cNvPr id="11" name="Shape 8"/>
          <p:cNvSpPr/>
          <p:nvPr/>
        </p:nvSpPr>
        <p:spPr>
          <a:xfrm>
            <a:off x="3019806" y="3259836"/>
            <a:ext cx="352044" cy="201168"/>
          </a:xfrm>
          <a:prstGeom prst="rightArrow">
            <a:avLst/>
          </a:prstGeom>
          <a:solidFill>
            <a:srgbClr val="2FB8A6"/>
          </a:solidFill>
          <a:ln/>
        </p:spPr>
        <p:txBody>
          <a:bodyPr/>
          <a:lstStyle/>
          <a:p>
            <a:endParaRPr lang="en-US"/>
          </a:p>
        </p:txBody>
      </p:sp>
      <p:sp>
        <p:nvSpPr>
          <p:cNvPr id="12" name="Shape 9"/>
          <p:cNvSpPr/>
          <p:nvPr/>
        </p:nvSpPr>
        <p:spPr>
          <a:xfrm>
            <a:off x="3447288" y="1691640"/>
            <a:ext cx="2395728" cy="3337560"/>
          </a:xfrm>
          <a:prstGeom prst="roundRect">
            <a:avLst>
              <a:gd name="adj" fmla="val 3817"/>
            </a:avLst>
          </a:prstGeom>
          <a:solidFill>
            <a:srgbClr val="E7EFF5"/>
          </a:solidFill>
          <a:ln w="12700">
            <a:solidFill>
              <a:srgbClr val="D7E1E8"/>
            </a:solidFill>
            <a:prstDash val="solid"/>
          </a:ln>
        </p:spPr>
        <p:txBody>
          <a:bodyPr/>
          <a:lstStyle/>
          <a:p>
            <a:endParaRPr lang="en-US"/>
          </a:p>
        </p:txBody>
      </p:sp>
      <p:sp>
        <p:nvSpPr>
          <p:cNvPr id="13" name="Shape 10"/>
          <p:cNvSpPr/>
          <p:nvPr/>
        </p:nvSpPr>
        <p:spPr>
          <a:xfrm>
            <a:off x="3611880" y="1856232"/>
            <a:ext cx="420624" cy="420624"/>
          </a:xfrm>
          <a:prstGeom prst="ellipse">
            <a:avLst/>
          </a:prstGeom>
          <a:solidFill>
            <a:srgbClr val="0A2540"/>
          </a:solidFill>
          <a:ln/>
        </p:spPr>
        <p:txBody>
          <a:bodyPr/>
          <a:lstStyle/>
          <a:p>
            <a:endParaRPr lang="en-US"/>
          </a:p>
        </p:txBody>
      </p:sp>
      <p:sp>
        <p:nvSpPr>
          <p:cNvPr id="14" name="Text 11"/>
          <p:cNvSpPr/>
          <p:nvPr/>
        </p:nvSpPr>
        <p:spPr>
          <a:xfrm>
            <a:off x="3611880" y="1856232"/>
            <a:ext cx="420624" cy="420624"/>
          </a:xfrm>
          <a:prstGeom prst="rect">
            <a:avLst/>
          </a:prstGeom>
          <a:noFill/>
          <a:ln/>
        </p:spPr>
        <p:txBody>
          <a:bodyPr wrap="square"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2</a:t>
            </a:r>
            <a:endParaRPr lang="en-US" sz="1600" dirty="0"/>
          </a:p>
        </p:txBody>
      </p:sp>
      <p:sp>
        <p:nvSpPr>
          <p:cNvPr id="15" name="Shape 12"/>
          <p:cNvSpPr/>
          <p:nvPr/>
        </p:nvSpPr>
        <p:spPr>
          <a:xfrm>
            <a:off x="4151376" y="2194560"/>
            <a:ext cx="987552" cy="987552"/>
          </a:xfrm>
          <a:prstGeom prst="ellipse">
            <a:avLst/>
          </a:prstGeom>
          <a:solidFill>
            <a:srgbClr val="0B4F8A"/>
          </a:solidFill>
          <a:ln/>
        </p:spPr>
        <p:txBody>
          <a:bodyPr/>
          <a:lstStyle/>
          <a:p>
            <a:endParaRPr lang="en-US"/>
          </a:p>
        </p:txBody>
      </p:sp>
      <p:pic>
        <p:nvPicPr>
          <p:cNvPr id="16" name="Image 1" descr="icons/bolt_white.png"/>
          <p:cNvPicPr>
            <a:picLocks noChangeAspect="1"/>
          </p:cNvPicPr>
          <p:nvPr/>
        </p:nvPicPr>
        <p:blipFill>
          <a:blip r:embed="rId4"/>
          <a:stretch>
            <a:fillRect/>
          </a:stretch>
        </p:blipFill>
        <p:spPr>
          <a:xfrm>
            <a:off x="4352544" y="2395728"/>
            <a:ext cx="585216" cy="585216"/>
          </a:xfrm>
          <a:prstGeom prst="rect">
            <a:avLst/>
          </a:prstGeom>
        </p:spPr>
      </p:pic>
      <p:sp>
        <p:nvSpPr>
          <p:cNvPr id="17" name="Text 13"/>
          <p:cNvSpPr/>
          <p:nvPr/>
        </p:nvSpPr>
        <p:spPr>
          <a:xfrm>
            <a:off x="3566160" y="3291840"/>
            <a:ext cx="2157984" cy="585216"/>
          </a:xfrm>
          <a:prstGeom prst="rect">
            <a:avLst/>
          </a:prstGeom>
          <a:noFill/>
          <a:ln/>
        </p:spPr>
        <p:txBody>
          <a:bodyPr wrap="square" rtlCol="0" anchor="ctr"/>
          <a:lstStyle/>
          <a:p>
            <a:pPr marL="0" indent="0" algn="ctr">
              <a:lnSpc>
                <a:spcPct val="100000"/>
              </a:lnSpc>
              <a:buNone/>
            </a:pPr>
            <a:r>
              <a:rPr lang="en-US" sz="1500" b="1" dirty="0">
                <a:solidFill>
                  <a:srgbClr val="0A2540"/>
                </a:solidFill>
                <a:latin typeface="Times New Roman" pitchFamily="34" charset="0"/>
                <a:ea typeface="Times New Roman" pitchFamily="34" charset="-122"/>
                <a:cs typeface="Times New Roman" pitchFamily="34" charset="-120"/>
              </a:rPr>
              <a:t>Radio Frequency</a:t>
            </a:r>
            <a:endParaRPr lang="en-US" sz="1500" dirty="0"/>
          </a:p>
          <a:p>
            <a:pPr marL="0" indent="0" algn="ctr">
              <a:lnSpc>
                <a:spcPct val="100000"/>
              </a:lnSpc>
              <a:buNone/>
            </a:pPr>
            <a:r>
              <a:rPr lang="en-US" sz="1500" b="1" dirty="0">
                <a:solidFill>
                  <a:srgbClr val="0A2540"/>
                </a:solidFill>
                <a:latin typeface="Times New Roman" pitchFamily="34" charset="0"/>
                <a:ea typeface="Times New Roman" pitchFamily="34" charset="-122"/>
                <a:cs typeface="Times New Roman" pitchFamily="34" charset="-120"/>
              </a:rPr>
              <a:t>Pulse</a:t>
            </a:r>
            <a:endParaRPr lang="en-US" sz="1500" dirty="0"/>
          </a:p>
        </p:txBody>
      </p:sp>
      <p:sp>
        <p:nvSpPr>
          <p:cNvPr id="18" name="Text 14"/>
          <p:cNvSpPr/>
          <p:nvPr/>
        </p:nvSpPr>
        <p:spPr>
          <a:xfrm>
            <a:off x="3611880" y="3904488"/>
            <a:ext cx="2066544" cy="1051560"/>
          </a:xfrm>
          <a:prstGeom prst="rect">
            <a:avLst/>
          </a:prstGeom>
          <a:noFill/>
          <a:ln/>
        </p:spPr>
        <p:txBody>
          <a:bodyPr wrap="square" rtlCol="0" anchor="ctr"/>
          <a:lstStyle/>
          <a:p>
            <a:pPr marL="0" indent="0" algn="ctr">
              <a:lnSpc>
                <a:spcPct val="118000"/>
              </a:lnSpc>
              <a:buNone/>
            </a:pPr>
            <a:r>
              <a:rPr lang="en-US" sz="1150" dirty="0">
                <a:solidFill>
                  <a:srgbClr val="374856"/>
                </a:solidFill>
                <a:latin typeface="Times New Roman" pitchFamily="34" charset="0"/>
                <a:ea typeface="Times New Roman" pitchFamily="34" charset="-122"/>
                <a:cs typeface="Times New Roman" pitchFamily="34" charset="-120"/>
              </a:rPr>
              <a:t>RF pulses are applied at a specific frequency, temporarily disturbing the aligned hydrogen atoms.</a:t>
            </a:r>
            <a:endParaRPr lang="en-US" sz="1150" dirty="0"/>
          </a:p>
        </p:txBody>
      </p:sp>
      <p:sp>
        <p:nvSpPr>
          <p:cNvPr id="19" name="Shape 15"/>
          <p:cNvSpPr/>
          <p:nvPr/>
        </p:nvSpPr>
        <p:spPr>
          <a:xfrm>
            <a:off x="5918454" y="3259836"/>
            <a:ext cx="352044" cy="201168"/>
          </a:xfrm>
          <a:prstGeom prst="rightArrow">
            <a:avLst/>
          </a:prstGeom>
          <a:solidFill>
            <a:srgbClr val="2FB8A6"/>
          </a:solidFill>
          <a:ln/>
        </p:spPr>
        <p:txBody>
          <a:bodyPr/>
          <a:lstStyle/>
          <a:p>
            <a:endParaRPr lang="en-US"/>
          </a:p>
        </p:txBody>
      </p:sp>
      <p:sp>
        <p:nvSpPr>
          <p:cNvPr id="20" name="Shape 16"/>
          <p:cNvSpPr/>
          <p:nvPr/>
        </p:nvSpPr>
        <p:spPr>
          <a:xfrm>
            <a:off x="6345936" y="1691640"/>
            <a:ext cx="2395728" cy="3337560"/>
          </a:xfrm>
          <a:prstGeom prst="roundRect">
            <a:avLst>
              <a:gd name="adj" fmla="val 3817"/>
            </a:avLst>
          </a:prstGeom>
          <a:solidFill>
            <a:srgbClr val="E7EFF5"/>
          </a:solidFill>
          <a:ln w="12700">
            <a:solidFill>
              <a:srgbClr val="D7E1E8"/>
            </a:solidFill>
            <a:prstDash val="solid"/>
          </a:ln>
        </p:spPr>
        <p:txBody>
          <a:bodyPr/>
          <a:lstStyle/>
          <a:p>
            <a:endParaRPr lang="en-US"/>
          </a:p>
        </p:txBody>
      </p:sp>
      <p:sp>
        <p:nvSpPr>
          <p:cNvPr id="21" name="Shape 17"/>
          <p:cNvSpPr/>
          <p:nvPr/>
        </p:nvSpPr>
        <p:spPr>
          <a:xfrm>
            <a:off x="6510528" y="1856232"/>
            <a:ext cx="420624" cy="420624"/>
          </a:xfrm>
          <a:prstGeom prst="ellipse">
            <a:avLst/>
          </a:prstGeom>
          <a:solidFill>
            <a:srgbClr val="0A2540"/>
          </a:solidFill>
          <a:ln/>
        </p:spPr>
        <p:txBody>
          <a:bodyPr/>
          <a:lstStyle/>
          <a:p>
            <a:endParaRPr lang="en-US"/>
          </a:p>
        </p:txBody>
      </p:sp>
      <p:sp>
        <p:nvSpPr>
          <p:cNvPr id="22" name="Text 18"/>
          <p:cNvSpPr/>
          <p:nvPr/>
        </p:nvSpPr>
        <p:spPr>
          <a:xfrm>
            <a:off x="6510528" y="1856232"/>
            <a:ext cx="420624" cy="420624"/>
          </a:xfrm>
          <a:prstGeom prst="rect">
            <a:avLst/>
          </a:prstGeom>
          <a:noFill/>
          <a:ln/>
        </p:spPr>
        <p:txBody>
          <a:bodyPr wrap="square"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3</a:t>
            </a:r>
            <a:endParaRPr lang="en-US" sz="1600" dirty="0"/>
          </a:p>
        </p:txBody>
      </p:sp>
      <p:sp>
        <p:nvSpPr>
          <p:cNvPr id="23" name="Shape 19"/>
          <p:cNvSpPr/>
          <p:nvPr/>
        </p:nvSpPr>
        <p:spPr>
          <a:xfrm>
            <a:off x="7050024" y="2194560"/>
            <a:ext cx="987552" cy="987552"/>
          </a:xfrm>
          <a:prstGeom prst="ellipse">
            <a:avLst/>
          </a:prstGeom>
          <a:solidFill>
            <a:srgbClr val="0B4F8A"/>
          </a:solidFill>
          <a:ln/>
        </p:spPr>
        <p:txBody>
          <a:bodyPr/>
          <a:lstStyle/>
          <a:p>
            <a:endParaRPr lang="en-US"/>
          </a:p>
        </p:txBody>
      </p:sp>
      <p:pic>
        <p:nvPicPr>
          <p:cNvPr id="24" name="Image 2" descr="icons/waveform_white.png"/>
          <p:cNvPicPr>
            <a:picLocks noChangeAspect="1"/>
          </p:cNvPicPr>
          <p:nvPr/>
        </p:nvPicPr>
        <p:blipFill>
          <a:blip r:embed="rId5"/>
          <a:stretch>
            <a:fillRect/>
          </a:stretch>
        </p:blipFill>
        <p:spPr>
          <a:xfrm>
            <a:off x="7251192" y="2395728"/>
            <a:ext cx="585216" cy="585216"/>
          </a:xfrm>
          <a:prstGeom prst="rect">
            <a:avLst/>
          </a:prstGeom>
        </p:spPr>
      </p:pic>
      <p:sp>
        <p:nvSpPr>
          <p:cNvPr id="25" name="Text 20"/>
          <p:cNvSpPr/>
          <p:nvPr/>
        </p:nvSpPr>
        <p:spPr>
          <a:xfrm>
            <a:off x="6464808" y="3291840"/>
            <a:ext cx="2157984" cy="585216"/>
          </a:xfrm>
          <a:prstGeom prst="rect">
            <a:avLst/>
          </a:prstGeom>
          <a:noFill/>
          <a:ln/>
        </p:spPr>
        <p:txBody>
          <a:bodyPr wrap="square" rtlCol="0" anchor="ctr"/>
          <a:lstStyle/>
          <a:p>
            <a:pPr marL="0" indent="0" algn="ctr">
              <a:lnSpc>
                <a:spcPct val="100000"/>
              </a:lnSpc>
              <a:buNone/>
            </a:pPr>
            <a:r>
              <a:rPr lang="en-US" sz="1500" b="1" dirty="0">
                <a:solidFill>
                  <a:srgbClr val="0A2540"/>
                </a:solidFill>
                <a:latin typeface="Times New Roman" pitchFamily="34" charset="0"/>
                <a:ea typeface="Times New Roman" pitchFamily="34" charset="-122"/>
                <a:cs typeface="Times New Roman" pitchFamily="34" charset="-120"/>
              </a:rPr>
              <a:t>Signal</a:t>
            </a:r>
            <a:endParaRPr lang="en-US" sz="1500" dirty="0"/>
          </a:p>
          <a:p>
            <a:pPr marL="0" indent="0" algn="ctr">
              <a:lnSpc>
                <a:spcPct val="100000"/>
              </a:lnSpc>
              <a:buNone/>
            </a:pPr>
            <a:r>
              <a:rPr lang="en-US" sz="1500" b="1" dirty="0">
                <a:solidFill>
                  <a:srgbClr val="0A2540"/>
                </a:solidFill>
                <a:latin typeface="Times New Roman" pitchFamily="34" charset="0"/>
                <a:ea typeface="Times New Roman" pitchFamily="34" charset="-122"/>
                <a:cs typeface="Times New Roman" pitchFamily="34" charset="-120"/>
              </a:rPr>
              <a:t>Emission</a:t>
            </a:r>
            <a:endParaRPr lang="en-US" sz="1500" dirty="0"/>
          </a:p>
        </p:txBody>
      </p:sp>
      <p:sp>
        <p:nvSpPr>
          <p:cNvPr id="26" name="Text 21"/>
          <p:cNvSpPr/>
          <p:nvPr/>
        </p:nvSpPr>
        <p:spPr>
          <a:xfrm>
            <a:off x="6510528" y="3904488"/>
            <a:ext cx="2066544" cy="1051560"/>
          </a:xfrm>
          <a:prstGeom prst="rect">
            <a:avLst/>
          </a:prstGeom>
          <a:noFill/>
          <a:ln/>
        </p:spPr>
        <p:txBody>
          <a:bodyPr wrap="square" rtlCol="0" anchor="ctr"/>
          <a:lstStyle/>
          <a:p>
            <a:pPr marL="0" indent="0" algn="ctr">
              <a:lnSpc>
                <a:spcPct val="118000"/>
              </a:lnSpc>
              <a:buNone/>
            </a:pPr>
            <a:r>
              <a:rPr lang="en-US" sz="1150" dirty="0">
                <a:solidFill>
                  <a:srgbClr val="374856"/>
                </a:solidFill>
                <a:latin typeface="Times New Roman" pitchFamily="34" charset="0"/>
                <a:ea typeface="Times New Roman" pitchFamily="34" charset="-122"/>
                <a:cs typeface="Times New Roman" pitchFamily="34" charset="-120"/>
              </a:rPr>
              <a:t>As atoms relax back into alignment, they emit faint radio signals that are picked up by receiver coils.</a:t>
            </a:r>
            <a:endParaRPr lang="en-US" sz="1150" dirty="0"/>
          </a:p>
        </p:txBody>
      </p:sp>
      <p:sp>
        <p:nvSpPr>
          <p:cNvPr id="27" name="Shape 22"/>
          <p:cNvSpPr/>
          <p:nvPr/>
        </p:nvSpPr>
        <p:spPr>
          <a:xfrm>
            <a:off x="8817102" y="3259836"/>
            <a:ext cx="352044" cy="201168"/>
          </a:xfrm>
          <a:prstGeom prst="rightArrow">
            <a:avLst/>
          </a:prstGeom>
          <a:solidFill>
            <a:srgbClr val="2FB8A6"/>
          </a:solidFill>
          <a:ln/>
        </p:spPr>
        <p:txBody>
          <a:bodyPr/>
          <a:lstStyle/>
          <a:p>
            <a:endParaRPr lang="en-US"/>
          </a:p>
        </p:txBody>
      </p:sp>
      <p:sp>
        <p:nvSpPr>
          <p:cNvPr id="28" name="Shape 23"/>
          <p:cNvSpPr/>
          <p:nvPr/>
        </p:nvSpPr>
        <p:spPr>
          <a:xfrm>
            <a:off x="9244584" y="1691640"/>
            <a:ext cx="2395728" cy="3337560"/>
          </a:xfrm>
          <a:prstGeom prst="roundRect">
            <a:avLst>
              <a:gd name="adj" fmla="val 3817"/>
            </a:avLst>
          </a:prstGeom>
          <a:solidFill>
            <a:srgbClr val="E7EFF5"/>
          </a:solidFill>
          <a:ln w="12700">
            <a:solidFill>
              <a:srgbClr val="D7E1E8"/>
            </a:solidFill>
            <a:prstDash val="solid"/>
          </a:ln>
        </p:spPr>
        <p:txBody>
          <a:bodyPr/>
          <a:lstStyle/>
          <a:p>
            <a:endParaRPr lang="en-US"/>
          </a:p>
        </p:txBody>
      </p:sp>
      <p:sp>
        <p:nvSpPr>
          <p:cNvPr id="29" name="Shape 24"/>
          <p:cNvSpPr/>
          <p:nvPr/>
        </p:nvSpPr>
        <p:spPr>
          <a:xfrm>
            <a:off x="9409176" y="1856232"/>
            <a:ext cx="420624" cy="420624"/>
          </a:xfrm>
          <a:prstGeom prst="ellipse">
            <a:avLst/>
          </a:prstGeom>
          <a:solidFill>
            <a:srgbClr val="0A2540"/>
          </a:solidFill>
          <a:ln/>
        </p:spPr>
        <p:txBody>
          <a:bodyPr/>
          <a:lstStyle/>
          <a:p>
            <a:endParaRPr lang="en-US"/>
          </a:p>
        </p:txBody>
      </p:sp>
      <p:sp>
        <p:nvSpPr>
          <p:cNvPr id="30" name="Text 25"/>
          <p:cNvSpPr/>
          <p:nvPr/>
        </p:nvSpPr>
        <p:spPr>
          <a:xfrm>
            <a:off x="9409176" y="1856232"/>
            <a:ext cx="420624" cy="420624"/>
          </a:xfrm>
          <a:prstGeom prst="rect">
            <a:avLst/>
          </a:prstGeom>
          <a:noFill/>
          <a:ln/>
        </p:spPr>
        <p:txBody>
          <a:bodyPr wrap="square"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4</a:t>
            </a:r>
            <a:endParaRPr lang="en-US" sz="1600" dirty="0"/>
          </a:p>
        </p:txBody>
      </p:sp>
      <p:sp>
        <p:nvSpPr>
          <p:cNvPr id="31" name="Shape 26"/>
          <p:cNvSpPr/>
          <p:nvPr/>
        </p:nvSpPr>
        <p:spPr>
          <a:xfrm>
            <a:off x="9948672" y="2194560"/>
            <a:ext cx="987552" cy="987552"/>
          </a:xfrm>
          <a:prstGeom prst="ellipse">
            <a:avLst/>
          </a:prstGeom>
          <a:solidFill>
            <a:srgbClr val="0B4F8A"/>
          </a:solidFill>
          <a:ln/>
        </p:spPr>
        <p:txBody>
          <a:bodyPr/>
          <a:lstStyle/>
          <a:p>
            <a:endParaRPr lang="en-US"/>
          </a:p>
        </p:txBody>
      </p:sp>
      <p:pic>
        <p:nvPicPr>
          <p:cNvPr id="32" name="Image 3" descr="icons/microchip_white.png"/>
          <p:cNvPicPr>
            <a:picLocks noChangeAspect="1"/>
          </p:cNvPicPr>
          <p:nvPr/>
        </p:nvPicPr>
        <p:blipFill>
          <a:blip r:embed="rId6"/>
          <a:stretch>
            <a:fillRect/>
          </a:stretch>
        </p:blipFill>
        <p:spPr>
          <a:xfrm>
            <a:off x="10149840" y="2395728"/>
            <a:ext cx="585216" cy="585216"/>
          </a:xfrm>
          <a:prstGeom prst="rect">
            <a:avLst/>
          </a:prstGeom>
        </p:spPr>
      </p:pic>
      <p:sp>
        <p:nvSpPr>
          <p:cNvPr id="33" name="Text 27"/>
          <p:cNvSpPr/>
          <p:nvPr/>
        </p:nvSpPr>
        <p:spPr>
          <a:xfrm>
            <a:off x="9363456" y="3291840"/>
            <a:ext cx="2157984" cy="585216"/>
          </a:xfrm>
          <a:prstGeom prst="rect">
            <a:avLst/>
          </a:prstGeom>
          <a:noFill/>
          <a:ln/>
        </p:spPr>
        <p:txBody>
          <a:bodyPr wrap="square" rtlCol="0" anchor="ctr"/>
          <a:lstStyle/>
          <a:p>
            <a:pPr marL="0" indent="0" algn="ctr">
              <a:lnSpc>
                <a:spcPct val="100000"/>
              </a:lnSpc>
              <a:buNone/>
            </a:pPr>
            <a:r>
              <a:rPr lang="en-US" sz="1500" b="1" dirty="0">
                <a:solidFill>
                  <a:srgbClr val="0A2540"/>
                </a:solidFill>
                <a:latin typeface="Times New Roman" pitchFamily="34" charset="0"/>
                <a:ea typeface="Times New Roman" pitchFamily="34" charset="-122"/>
                <a:cs typeface="Times New Roman" pitchFamily="34" charset="-120"/>
              </a:rPr>
              <a:t>Image</a:t>
            </a:r>
            <a:endParaRPr lang="en-US" sz="1500" dirty="0"/>
          </a:p>
          <a:p>
            <a:pPr marL="0" indent="0" algn="ctr">
              <a:lnSpc>
                <a:spcPct val="100000"/>
              </a:lnSpc>
              <a:buNone/>
            </a:pPr>
            <a:r>
              <a:rPr lang="en-US" sz="1500" b="1" dirty="0">
                <a:solidFill>
                  <a:srgbClr val="0A2540"/>
                </a:solidFill>
                <a:latin typeface="Times New Roman" pitchFamily="34" charset="0"/>
                <a:ea typeface="Times New Roman" pitchFamily="34" charset="-122"/>
                <a:cs typeface="Times New Roman" pitchFamily="34" charset="-120"/>
              </a:rPr>
              <a:t>Reconstruction</a:t>
            </a:r>
            <a:endParaRPr lang="en-US" sz="1500" dirty="0"/>
          </a:p>
        </p:txBody>
      </p:sp>
      <p:sp>
        <p:nvSpPr>
          <p:cNvPr id="34" name="Text 28"/>
          <p:cNvSpPr/>
          <p:nvPr/>
        </p:nvSpPr>
        <p:spPr>
          <a:xfrm>
            <a:off x="9409176" y="3904488"/>
            <a:ext cx="2066544" cy="1051560"/>
          </a:xfrm>
          <a:prstGeom prst="rect">
            <a:avLst/>
          </a:prstGeom>
          <a:noFill/>
          <a:ln/>
        </p:spPr>
        <p:txBody>
          <a:bodyPr wrap="square" rtlCol="0" anchor="ctr"/>
          <a:lstStyle/>
          <a:p>
            <a:pPr marL="0" indent="0" algn="ctr">
              <a:lnSpc>
                <a:spcPct val="118000"/>
              </a:lnSpc>
              <a:buNone/>
            </a:pPr>
            <a:r>
              <a:rPr lang="en-US" sz="1150" dirty="0">
                <a:solidFill>
                  <a:srgbClr val="374856"/>
                </a:solidFill>
                <a:latin typeface="Times New Roman" pitchFamily="34" charset="0"/>
                <a:ea typeface="Times New Roman" pitchFamily="34" charset="-122"/>
                <a:cs typeface="Times New Roman" pitchFamily="34" charset="-120"/>
              </a:rPr>
              <a:t>A computer processes the emitted signals using mathematical transforms to reconstruct a detailed MRI image.</a:t>
            </a:r>
            <a:endParaRPr lang="en-US" sz="1150" dirty="0"/>
          </a:p>
        </p:txBody>
      </p:sp>
      <p:sp>
        <p:nvSpPr>
          <p:cNvPr id="35" name="Shape 29"/>
          <p:cNvSpPr/>
          <p:nvPr/>
        </p:nvSpPr>
        <p:spPr>
          <a:xfrm>
            <a:off x="548640" y="5257800"/>
            <a:ext cx="11091672" cy="1051560"/>
          </a:xfrm>
          <a:prstGeom prst="roundRect">
            <a:avLst>
              <a:gd name="adj" fmla="val 6957"/>
            </a:avLst>
          </a:prstGeom>
          <a:solidFill>
            <a:srgbClr val="0A2540"/>
          </a:solidFill>
          <a:ln/>
        </p:spPr>
        <p:txBody>
          <a:bodyPr/>
          <a:lstStyle/>
          <a:p>
            <a:endParaRPr lang="en-US"/>
          </a:p>
        </p:txBody>
      </p:sp>
      <p:sp>
        <p:nvSpPr>
          <p:cNvPr id="36" name="Shape 30"/>
          <p:cNvSpPr/>
          <p:nvPr/>
        </p:nvSpPr>
        <p:spPr>
          <a:xfrm>
            <a:off x="777240" y="5431536"/>
            <a:ext cx="658368" cy="658368"/>
          </a:xfrm>
          <a:prstGeom prst="ellipse">
            <a:avLst/>
          </a:prstGeom>
          <a:solidFill>
            <a:srgbClr val="0B4F8A"/>
          </a:solidFill>
          <a:ln/>
        </p:spPr>
        <p:txBody>
          <a:bodyPr/>
          <a:lstStyle/>
          <a:p>
            <a:endParaRPr lang="en-US"/>
          </a:p>
        </p:txBody>
      </p:sp>
      <p:pic>
        <p:nvPicPr>
          <p:cNvPr id="37" name="Image 4" descr="icons/brain_white.png"/>
          <p:cNvPicPr>
            <a:picLocks noChangeAspect="1"/>
          </p:cNvPicPr>
          <p:nvPr/>
        </p:nvPicPr>
        <p:blipFill>
          <a:blip r:embed="rId7"/>
          <a:stretch>
            <a:fillRect/>
          </a:stretch>
        </p:blipFill>
        <p:spPr>
          <a:xfrm>
            <a:off x="932688" y="5632704"/>
            <a:ext cx="329184" cy="329184"/>
          </a:xfrm>
          <a:prstGeom prst="rect">
            <a:avLst/>
          </a:prstGeom>
        </p:spPr>
      </p:pic>
      <p:sp>
        <p:nvSpPr>
          <p:cNvPr id="38" name="Text 31"/>
          <p:cNvSpPr/>
          <p:nvPr/>
        </p:nvSpPr>
        <p:spPr>
          <a:xfrm>
            <a:off x="1600200" y="5358384"/>
            <a:ext cx="2743200" cy="310896"/>
          </a:xfrm>
          <a:prstGeom prst="rect">
            <a:avLst/>
          </a:prstGeom>
          <a:noFill/>
          <a:ln/>
        </p:spPr>
        <p:txBody>
          <a:bodyPr wrap="square" rtlCol="0" anchor="ctr"/>
          <a:lstStyle/>
          <a:p>
            <a:pPr marL="0" indent="0">
              <a:buNone/>
            </a:pPr>
            <a:r>
              <a:rPr lang="en-US" sz="1300" b="1" dirty="0">
                <a:solidFill>
                  <a:srgbClr val="2FB8A6"/>
                </a:solidFill>
                <a:latin typeface="Times New Roman" pitchFamily="34" charset="0"/>
                <a:ea typeface="Times New Roman" pitchFamily="34" charset="-122"/>
                <a:cs typeface="Times New Roman" pitchFamily="34" charset="-120"/>
              </a:rPr>
              <a:t>Key Idea</a:t>
            </a:r>
            <a:endParaRPr lang="en-US" sz="1300" dirty="0"/>
          </a:p>
        </p:txBody>
      </p:sp>
      <p:sp>
        <p:nvSpPr>
          <p:cNvPr id="39" name="Text 32"/>
          <p:cNvSpPr/>
          <p:nvPr/>
        </p:nvSpPr>
        <p:spPr>
          <a:xfrm>
            <a:off x="1600200" y="5660136"/>
            <a:ext cx="9537192" cy="530352"/>
          </a:xfrm>
          <a:prstGeom prst="rect">
            <a:avLst/>
          </a:prstGeom>
          <a:noFill/>
          <a:ln/>
        </p:spPr>
        <p:txBody>
          <a:bodyPr wrap="square" rtlCol="0" anchor="ctr"/>
          <a:lstStyle/>
          <a:p>
            <a:pPr marL="0" indent="0">
              <a:lnSpc>
                <a:spcPct val="118000"/>
              </a:lnSpc>
              <a:buNone/>
            </a:pPr>
            <a:r>
              <a:rPr lang="en-US" sz="1250" dirty="0">
                <a:solidFill>
                  <a:srgbClr val="FFFFFF"/>
                </a:solidFill>
                <a:latin typeface="Times New Roman" pitchFamily="34" charset="0"/>
                <a:ea typeface="Times New Roman" pitchFamily="34" charset="-122"/>
                <a:cs typeface="Times New Roman" pitchFamily="34" charset="-120"/>
              </a:rPr>
              <a:t>MRI does not use radiation — it forms images purely from magnetic and radio-frequency interactions with hydrogen atoms in body tissue.</a:t>
            </a:r>
            <a:endParaRPr lang="en-US" sz="1250" dirty="0"/>
          </a:p>
        </p:txBody>
      </p:sp>
      <p:sp>
        <p:nvSpPr>
          <p:cNvPr id="40" name="Text 33"/>
          <p:cNvSpPr/>
          <p:nvPr/>
        </p:nvSpPr>
        <p:spPr>
          <a:xfrm>
            <a:off x="457200" y="6492240"/>
            <a:ext cx="6400800" cy="292608"/>
          </a:xfrm>
          <a:prstGeom prst="rect">
            <a:avLst/>
          </a:prstGeom>
          <a:noFill/>
          <a:ln/>
        </p:spPr>
        <p:txBody>
          <a:bodyPr wrap="square" rtlCol="0" anchor="ctr"/>
          <a:lstStyle/>
          <a:p>
            <a:pPr marL="0" indent="0" algn="l">
              <a:buNone/>
            </a:pPr>
            <a:r>
              <a:rPr lang="en-US" sz="1050" dirty="0">
                <a:solidFill>
                  <a:srgbClr val="4C606D"/>
                </a:solidFill>
                <a:latin typeface="Times New Roman" pitchFamily="34" charset="0"/>
                <a:ea typeface="Times New Roman" pitchFamily="34" charset="-122"/>
                <a:cs typeface="Times New Roman" pitchFamily="34" charset="-120"/>
              </a:rPr>
              <a:t>Medical AI System for MRI Image Analysis</a:t>
            </a:r>
            <a:endParaRPr lang="en-US" sz="1050" dirty="0"/>
          </a:p>
        </p:txBody>
      </p:sp>
      <p:sp>
        <p:nvSpPr>
          <p:cNvPr id="41" name="Text 34"/>
          <p:cNvSpPr/>
          <p:nvPr/>
        </p:nvSpPr>
        <p:spPr>
          <a:xfrm>
            <a:off x="11274552" y="6492240"/>
            <a:ext cx="457200" cy="292608"/>
          </a:xfrm>
          <a:prstGeom prst="rect">
            <a:avLst/>
          </a:prstGeom>
          <a:noFill/>
          <a:ln/>
        </p:spPr>
        <p:txBody>
          <a:bodyPr wrap="square" rtlCol="0" anchor="ctr"/>
          <a:lstStyle/>
          <a:p>
            <a:pPr marL="0" indent="0" algn="r">
              <a:buNone/>
            </a:pPr>
            <a:r>
              <a:rPr lang="en-US" sz="1050" dirty="0">
                <a:solidFill>
                  <a:srgbClr val="4C606D"/>
                </a:solidFill>
                <a:latin typeface="Times New Roman" pitchFamily="34" charset="0"/>
                <a:ea typeface="Times New Roman" pitchFamily="34" charset="-122"/>
                <a:cs typeface="Times New Roman" pitchFamily="34" charset="-120"/>
              </a:rPr>
              <a:t>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7EFF5"/>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566928"/>
          </a:xfrm>
          <a:prstGeom prst="rect">
            <a:avLst/>
          </a:prstGeom>
          <a:noFill/>
          <a:ln/>
        </p:spPr>
        <p:txBody>
          <a:bodyPr wrap="square" rtlCol="0" anchor="ctr"/>
          <a:lstStyle/>
          <a:p>
            <a:pPr marL="0" indent="0">
              <a:buNone/>
            </a:pPr>
            <a:r>
              <a:rPr lang="en-US" sz="3200" b="1" dirty="0">
                <a:solidFill>
                  <a:srgbClr val="0A2540"/>
                </a:solidFill>
                <a:latin typeface="Times New Roman" pitchFamily="34" charset="0"/>
                <a:ea typeface="Times New Roman" pitchFamily="34" charset="-122"/>
                <a:cs typeface="Times New Roman" pitchFamily="34" charset="-120"/>
              </a:rPr>
              <a:t>Application Relevance</a:t>
            </a:r>
            <a:endParaRPr lang="en-US" sz="3200" dirty="0"/>
          </a:p>
        </p:txBody>
      </p:sp>
      <p:sp>
        <p:nvSpPr>
          <p:cNvPr id="3" name="Text 1"/>
          <p:cNvSpPr/>
          <p:nvPr/>
        </p:nvSpPr>
        <p:spPr>
          <a:xfrm>
            <a:off x="548640" y="896112"/>
            <a:ext cx="8229600" cy="329184"/>
          </a:xfrm>
          <a:prstGeom prst="rect">
            <a:avLst/>
          </a:prstGeom>
          <a:noFill/>
          <a:ln/>
        </p:spPr>
        <p:txBody>
          <a:bodyPr wrap="square" rtlCol="0" anchor="ctr"/>
          <a:lstStyle/>
          <a:p>
            <a:pPr marL="0" indent="0">
              <a:buNone/>
            </a:pPr>
            <a:r>
              <a:rPr lang="en-US" sz="1400" i="1" dirty="0">
                <a:solidFill>
                  <a:srgbClr val="374856"/>
                </a:solidFill>
                <a:latin typeface="Times New Roman" pitchFamily="34" charset="0"/>
                <a:ea typeface="Times New Roman" pitchFamily="34" charset="-122"/>
                <a:cs typeface="Times New Roman" pitchFamily="34" charset="-120"/>
              </a:rPr>
              <a:t>Where Medical AI for MRI creates real clinical impact</a:t>
            </a:r>
            <a:endParaRPr lang="en-US" sz="1400" dirty="0"/>
          </a:p>
        </p:txBody>
      </p:sp>
      <p:sp>
        <p:nvSpPr>
          <p:cNvPr id="4" name="Shape 2"/>
          <p:cNvSpPr/>
          <p:nvPr/>
        </p:nvSpPr>
        <p:spPr>
          <a:xfrm>
            <a:off x="502920" y="1371600"/>
            <a:ext cx="3544824" cy="2084832"/>
          </a:xfrm>
          <a:prstGeom prst="roundRect">
            <a:avLst>
              <a:gd name="adj" fmla="val 3947"/>
            </a:avLst>
          </a:prstGeom>
          <a:solidFill>
            <a:srgbClr val="FFFFFF"/>
          </a:solidFill>
          <a:ln w="12700">
            <a:solidFill>
              <a:srgbClr val="D7E1E8"/>
            </a:solidFill>
            <a:prstDash val="solid"/>
          </a:ln>
        </p:spPr>
        <p:txBody>
          <a:bodyPr/>
          <a:lstStyle/>
          <a:p>
            <a:endParaRPr lang="en-US"/>
          </a:p>
        </p:txBody>
      </p:sp>
      <p:sp>
        <p:nvSpPr>
          <p:cNvPr id="5" name="Shape 3"/>
          <p:cNvSpPr/>
          <p:nvPr/>
        </p:nvSpPr>
        <p:spPr>
          <a:xfrm>
            <a:off x="722376" y="1591056"/>
            <a:ext cx="694944" cy="694944"/>
          </a:xfrm>
          <a:prstGeom prst="ellipse">
            <a:avLst/>
          </a:prstGeom>
          <a:solidFill>
            <a:srgbClr val="0B4F8A"/>
          </a:solidFill>
          <a:ln/>
        </p:spPr>
        <p:txBody>
          <a:bodyPr/>
          <a:lstStyle/>
          <a:p>
            <a:endParaRPr lang="en-US"/>
          </a:p>
        </p:txBody>
      </p:sp>
      <p:pic>
        <p:nvPicPr>
          <p:cNvPr id="6" name="Image 0" descr="icons/tumor_white.png"/>
          <p:cNvPicPr>
            <a:picLocks noChangeAspect="1"/>
          </p:cNvPicPr>
          <p:nvPr/>
        </p:nvPicPr>
        <p:blipFill>
          <a:blip r:embed="rId3"/>
          <a:stretch>
            <a:fillRect/>
          </a:stretch>
        </p:blipFill>
        <p:spPr>
          <a:xfrm>
            <a:off x="923544" y="1792224"/>
            <a:ext cx="292608" cy="292608"/>
          </a:xfrm>
          <a:prstGeom prst="rect">
            <a:avLst/>
          </a:prstGeom>
        </p:spPr>
      </p:pic>
      <p:sp>
        <p:nvSpPr>
          <p:cNvPr id="7" name="Text 4"/>
          <p:cNvSpPr/>
          <p:nvPr/>
        </p:nvSpPr>
        <p:spPr>
          <a:xfrm>
            <a:off x="1530604" y="1716024"/>
            <a:ext cx="2310384" cy="713232"/>
          </a:xfrm>
          <a:prstGeom prst="rect">
            <a:avLst/>
          </a:prstGeom>
          <a:noFill/>
          <a:ln/>
        </p:spPr>
        <p:txBody>
          <a:bodyPr wrap="square" rtlCol="0" anchor="t"/>
          <a:lstStyle/>
          <a:p>
            <a:pPr marL="0" indent="0">
              <a:lnSpc>
                <a:spcPct val="105000"/>
              </a:lnSpc>
              <a:buNone/>
            </a:pPr>
            <a:r>
              <a:rPr lang="en-US" sz="1500" b="1" dirty="0">
                <a:solidFill>
                  <a:srgbClr val="0A2540"/>
                </a:solidFill>
                <a:latin typeface="Times New Roman" pitchFamily="34" charset="0"/>
                <a:ea typeface="Times New Roman" pitchFamily="34" charset="-122"/>
                <a:cs typeface="Times New Roman" pitchFamily="34" charset="-120"/>
              </a:rPr>
              <a:t>Brain Tumor Detection</a:t>
            </a:r>
            <a:r>
              <a:rPr lang="en-US" sz="1100" b="1" dirty="0">
                <a:solidFill>
                  <a:srgbClr val="2FB8A6"/>
                </a:solidFill>
                <a:latin typeface="Times New Roman" pitchFamily="34" charset="0"/>
                <a:ea typeface="Times New Roman" pitchFamily="34" charset="-122"/>
                <a:cs typeface="Times New Roman" pitchFamily="34" charset="-120"/>
              </a:rPr>
              <a:t> </a:t>
            </a:r>
            <a:endParaRPr lang="en-US" sz="1500" dirty="0"/>
          </a:p>
        </p:txBody>
      </p:sp>
      <p:sp>
        <p:nvSpPr>
          <p:cNvPr id="8" name="Text 5"/>
          <p:cNvSpPr/>
          <p:nvPr/>
        </p:nvSpPr>
        <p:spPr>
          <a:xfrm>
            <a:off x="722376" y="2212848"/>
            <a:ext cx="3105912" cy="1005840"/>
          </a:xfrm>
          <a:prstGeom prst="rect">
            <a:avLst/>
          </a:prstGeom>
          <a:noFill/>
          <a:ln/>
        </p:spPr>
        <p:txBody>
          <a:bodyPr wrap="square" rtlCol="0" anchor="ctr"/>
          <a:lstStyle/>
          <a:p>
            <a:pPr marL="0" indent="0">
              <a:lnSpc>
                <a:spcPct val="120000"/>
              </a:lnSpc>
              <a:buNone/>
            </a:pPr>
            <a:r>
              <a:rPr lang="en-US" sz="1200" dirty="0">
                <a:solidFill>
                  <a:srgbClr val="374856"/>
                </a:solidFill>
                <a:latin typeface="Times New Roman" pitchFamily="34" charset="0"/>
                <a:ea typeface="Times New Roman" pitchFamily="34" charset="-122"/>
                <a:cs typeface="Times New Roman" pitchFamily="34" charset="-120"/>
              </a:rPr>
              <a:t>Locates and outlines tumor boundaries for treatment planning.</a:t>
            </a:r>
            <a:endParaRPr lang="en-US" sz="1200" dirty="0"/>
          </a:p>
        </p:txBody>
      </p:sp>
      <p:sp>
        <p:nvSpPr>
          <p:cNvPr id="9" name="Shape 6"/>
          <p:cNvSpPr/>
          <p:nvPr/>
        </p:nvSpPr>
        <p:spPr>
          <a:xfrm>
            <a:off x="4322064" y="1371600"/>
            <a:ext cx="3544824" cy="2084832"/>
          </a:xfrm>
          <a:prstGeom prst="roundRect">
            <a:avLst>
              <a:gd name="adj" fmla="val 3947"/>
            </a:avLst>
          </a:prstGeom>
          <a:solidFill>
            <a:srgbClr val="FFFFFF"/>
          </a:solidFill>
          <a:ln w="12700">
            <a:solidFill>
              <a:srgbClr val="D7E1E8"/>
            </a:solidFill>
            <a:prstDash val="solid"/>
          </a:ln>
        </p:spPr>
        <p:txBody>
          <a:bodyPr/>
          <a:lstStyle/>
          <a:p>
            <a:endParaRPr lang="en-US"/>
          </a:p>
        </p:txBody>
      </p:sp>
      <p:sp>
        <p:nvSpPr>
          <p:cNvPr id="10" name="Shape 7"/>
          <p:cNvSpPr/>
          <p:nvPr/>
        </p:nvSpPr>
        <p:spPr>
          <a:xfrm>
            <a:off x="4541520" y="1591056"/>
            <a:ext cx="694944" cy="694944"/>
          </a:xfrm>
          <a:prstGeom prst="ellipse">
            <a:avLst/>
          </a:prstGeom>
          <a:solidFill>
            <a:srgbClr val="0B4F8A"/>
          </a:solidFill>
          <a:ln/>
        </p:spPr>
        <p:txBody>
          <a:bodyPr/>
          <a:lstStyle/>
          <a:p>
            <a:endParaRPr lang="en-US"/>
          </a:p>
        </p:txBody>
      </p:sp>
      <p:pic>
        <p:nvPicPr>
          <p:cNvPr id="11" name="Image 1" descr="icons/strokeIcon_white.png"/>
          <p:cNvPicPr>
            <a:picLocks noChangeAspect="1"/>
          </p:cNvPicPr>
          <p:nvPr/>
        </p:nvPicPr>
        <p:blipFill>
          <a:blip r:embed="rId4"/>
          <a:stretch>
            <a:fillRect/>
          </a:stretch>
        </p:blipFill>
        <p:spPr>
          <a:xfrm>
            <a:off x="4742688" y="1792224"/>
            <a:ext cx="292608" cy="292608"/>
          </a:xfrm>
          <a:prstGeom prst="rect">
            <a:avLst/>
          </a:prstGeom>
        </p:spPr>
      </p:pic>
      <p:sp>
        <p:nvSpPr>
          <p:cNvPr id="12" name="Text 8"/>
          <p:cNvSpPr/>
          <p:nvPr/>
        </p:nvSpPr>
        <p:spPr>
          <a:xfrm>
            <a:off x="5364480" y="1737360"/>
            <a:ext cx="2310384" cy="713232"/>
          </a:xfrm>
          <a:prstGeom prst="rect">
            <a:avLst/>
          </a:prstGeom>
          <a:noFill/>
          <a:ln/>
        </p:spPr>
        <p:txBody>
          <a:bodyPr wrap="square" rtlCol="0" anchor="t"/>
          <a:lstStyle/>
          <a:p>
            <a:pPr marL="0" indent="0">
              <a:lnSpc>
                <a:spcPct val="105000"/>
              </a:lnSpc>
              <a:buNone/>
            </a:pPr>
            <a:r>
              <a:rPr lang="en-US" sz="1500" b="1" dirty="0">
                <a:solidFill>
                  <a:srgbClr val="0A2540"/>
                </a:solidFill>
                <a:latin typeface="Times New Roman" pitchFamily="34" charset="0"/>
                <a:ea typeface="Times New Roman" pitchFamily="34" charset="-122"/>
                <a:cs typeface="Times New Roman" pitchFamily="34" charset="-120"/>
              </a:rPr>
              <a:t>Stroke Detection</a:t>
            </a:r>
            <a:endParaRPr lang="en-US" sz="1500" dirty="0"/>
          </a:p>
        </p:txBody>
      </p:sp>
      <p:sp>
        <p:nvSpPr>
          <p:cNvPr id="13" name="Text 9"/>
          <p:cNvSpPr/>
          <p:nvPr/>
        </p:nvSpPr>
        <p:spPr>
          <a:xfrm>
            <a:off x="4543552" y="2148840"/>
            <a:ext cx="3105912" cy="1005840"/>
          </a:xfrm>
          <a:prstGeom prst="rect">
            <a:avLst/>
          </a:prstGeom>
          <a:noFill/>
          <a:ln/>
        </p:spPr>
        <p:txBody>
          <a:bodyPr wrap="square" rtlCol="0" anchor="ctr"/>
          <a:lstStyle/>
          <a:p>
            <a:pPr marL="0" indent="0">
              <a:lnSpc>
                <a:spcPct val="120000"/>
              </a:lnSpc>
              <a:buNone/>
            </a:pPr>
            <a:r>
              <a:rPr lang="en-US" sz="1200" dirty="0">
                <a:solidFill>
                  <a:srgbClr val="374856"/>
                </a:solidFill>
                <a:latin typeface="Times New Roman" pitchFamily="34" charset="0"/>
                <a:ea typeface="Times New Roman" pitchFamily="34" charset="-122"/>
                <a:cs typeface="Times New Roman" pitchFamily="34" charset="-120"/>
              </a:rPr>
              <a:t>Identifies affected brain regions quickly for urgent care.</a:t>
            </a:r>
            <a:endParaRPr lang="en-US" sz="1200" dirty="0"/>
          </a:p>
        </p:txBody>
      </p:sp>
      <p:sp>
        <p:nvSpPr>
          <p:cNvPr id="14" name="Shape 10"/>
          <p:cNvSpPr/>
          <p:nvPr/>
        </p:nvSpPr>
        <p:spPr>
          <a:xfrm>
            <a:off x="8141208" y="1371600"/>
            <a:ext cx="3544824" cy="2084832"/>
          </a:xfrm>
          <a:prstGeom prst="roundRect">
            <a:avLst>
              <a:gd name="adj" fmla="val 3947"/>
            </a:avLst>
          </a:prstGeom>
          <a:solidFill>
            <a:srgbClr val="FFFFFF"/>
          </a:solidFill>
          <a:ln w="12700">
            <a:solidFill>
              <a:srgbClr val="D7E1E8"/>
            </a:solidFill>
            <a:prstDash val="solid"/>
          </a:ln>
        </p:spPr>
        <p:txBody>
          <a:bodyPr/>
          <a:lstStyle/>
          <a:p>
            <a:endParaRPr lang="en-US"/>
          </a:p>
        </p:txBody>
      </p:sp>
      <p:sp>
        <p:nvSpPr>
          <p:cNvPr id="15" name="Shape 11"/>
          <p:cNvSpPr/>
          <p:nvPr/>
        </p:nvSpPr>
        <p:spPr>
          <a:xfrm>
            <a:off x="8360664" y="1591056"/>
            <a:ext cx="694944" cy="694944"/>
          </a:xfrm>
          <a:prstGeom prst="ellipse">
            <a:avLst/>
          </a:prstGeom>
          <a:solidFill>
            <a:srgbClr val="0B4F8A"/>
          </a:solidFill>
          <a:ln/>
        </p:spPr>
        <p:txBody>
          <a:bodyPr/>
          <a:lstStyle/>
          <a:p>
            <a:endParaRPr lang="en-US"/>
          </a:p>
        </p:txBody>
      </p:sp>
      <p:pic>
        <p:nvPicPr>
          <p:cNvPr id="16" name="Image 2" descr="icons/alz_white.png"/>
          <p:cNvPicPr>
            <a:picLocks noChangeAspect="1"/>
          </p:cNvPicPr>
          <p:nvPr/>
        </p:nvPicPr>
        <p:blipFill>
          <a:blip r:embed="rId5"/>
          <a:stretch>
            <a:fillRect/>
          </a:stretch>
        </p:blipFill>
        <p:spPr>
          <a:xfrm>
            <a:off x="8561832" y="1792224"/>
            <a:ext cx="292608" cy="292608"/>
          </a:xfrm>
          <a:prstGeom prst="rect">
            <a:avLst/>
          </a:prstGeom>
        </p:spPr>
      </p:pic>
      <p:sp>
        <p:nvSpPr>
          <p:cNvPr id="17" name="Text 12"/>
          <p:cNvSpPr/>
          <p:nvPr/>
        </p:nvSpPr>
        <p:spPr>
          <a:xfrm>
            <a:off x="9183624" y="1728216"/>
            <a:ext cx="2310384" cy="713232"/>
          </a:xfrm>
          <a:prstGeom prst="rect">
            <a:avLst/>
          </a:prstGeom>
          <a:noFill/>
          <a:ln/>
        </p:spPr>
        <p:txBody>
          <a:bodyPr wrap="square" rtlCol="0" anchor="t"/>
          <a:lstStyle/>
          <a:p>
            <a:pPr marL="0" indent="0">
              <a:lnSpc>
                <a:spcPct val="105000"/>
              </a:lnSpc>
              <a:buNone/>
            </a:pPr>
            <a:r>
              <a:rPr lang="en-US" sz="1500" b="1" dirty="0">
                <a:solidFill>
                  <a:srgbClr val="0A2540"/>
                </a:solidFill>
                <a:latin typeface="Times New Roman" pitchFamily="34" charset="0"/>
                <a:ea typeface="Times New Roman" pitchFamily="34" charset="-122"/>
                <a:cs typeface="Times New Roman" pitchFamily="34" charset="-120"/>
              </a:rPr>
              <a:t>Alzheimer's Detection</a:t>
            </a:r>
            <a:endParaRPr lang="en-US" sz="1500" dirty="0"/>
          </a:p>
        </p:txBody>
      </p:sp>
      <p:sp>
        <p:nvSpPr>
          <p:cNvPr id="18" name="Text 13"/>
          <p:cNvSpPr/>
          <p:nvPr/>
        </p:nvSpPr>
        <p:spPr>
          <a:xfrm>
            <a:off x="8360664" y="2148840"/>
            <a:ext cx="3105912" cy="1005840"/>
          </a:xfrm>
          <a:prstGeom prst="rect">
            <a:avLst/>
          </a:prstGeom>
          <a:noFill/>
          <a:ln/>
        </p:spPr>
        <p:txBody>
          <a:bodyPr wrap="square" rtlCol="0" anchor="ctr"/>
          <a:lstStyle/>
          <a:p>
            <a:pPr marL="0" indent="0">
              <a:lnSpc>
                <a:spcPct val="120000"/>
              </a:lnSpc>
              <a:buNone/>
            </a:pPr>
            <a:r>
              <a:rPr lang="en-US" sz="1200" dirty="0">
                <a:solidFill>
                  <a:srgbClr val="374856"/>
                </a:solidFill>
                <a:latin typeface="Times New Roman" pitchFamily="34" charset="0"/>
                <a:ea typeface="Times New Roman" pitchFamily="34" charset="-122"/>
                <a:cs typeface="Times New Roman" pitchFamily="34" charset="-120"/>
              </a:rPr>
              <a:t>Tracks brain tissue atrophy patterns over time.</a:t>
            </a:r>
            <a:endParaRPr lang="en-US" sz="1200" dirty="0"/>
          </a:p>
        </p:txBody>
      </p:sp>
      <p:sp>
        <p:nvSpPr>
          <p:cNvPr id="19" name="Shape 14"/>
          <p:cNvSpPr/>
          <p:nvPr/>
        </p:nvSpPr>
        <p:spPr>
          <a:xfrm>
            <a:off x="502920" y="3712464"/>
            <a:ext cx="3544824" cy="2084832"/>
          </a:xfrm>
          <a:prstGeom prst="roundRect">
            <a:avLst>
              <a:gd name="adj" fmla="val 3947"/>
            </a:avLst>
          </a:prstGeom>
          <a:solidFill>
            <a:srgbClr val="FFFFFF"/>
          </a:solidFill>
          <a:ln w="12700">
            <a:solidFill>
              <a:srgbClr val="D7E1E8"/>
            </a:solidFill>
            <a:prstDash val="solid"/>
          </a:ln>
        </p:spPr>
        <p:txBody>
          <a:bodyPr/>
          <a:lstStyle/>
          <a:p>
            <a:endParaRPr lang="en-US"/>
          </a:p>
        </p:txBody>
      </p:sp>
      <p:sp>
        <p:nvSpPr>
          <p:cNvPr id="20" name="Shape 15"/>
          <p:cNvSpPr/>
          <p:nvPr/>
        </p:nvSpPr>
        <p:spPr>
          <a:xfrm>
            <a:off x="722376" y="3931920"/>
            <a:ext cx="694944" cy="694944"/>
          </a:xfrm>
          <a:prstGeom prst="ellipse">
            <a:avLst/>
          </a:prstGeom>
          <a:solidFill>
            <a:srgbClr val="0B4F8A"/>
          </a:solidFill>
          <a:ln/>
        </p:spPr>
        <p:txBody>
          <a:bodyPr/>
          <a:lstStyle/>
          <a:p>
            <a:endParaRPr lang="en-US"/>
          </a:p>
        </p:txBody>
      </p:sp>
      <p:pic>
        <p:nvPicPr>
          <p:cNvPr id="21" name="Image 3" descr="icons/ms_white.png"/>
          <p:cNvPicPr>
            <a:picLocks noChangeAspect="1"/>
          </p:cNvPicPr>
          <p:nvPr/>
        </p:nvPicPr>
        <p:blipFill>
          <a:blip r:embed="rId6"/>
          <a:stretch>
            <a:fillRect/>
          </a:stretch>
        </p:blipFill>
        <p:spPr>
          <a:xfrm>
            <a:off x="923544" y="4133088"/>
            <a:ext cx="292608" cy="292608"/>
          </a:xfrm>
          <a:prstGeom prst="rect">
            <a:avLst/>
          </a:prstGeom>
        </p:spPr>
      </p:pic>
      <p:sp>
        <p:nvSpPr>
          <p:cNvPr id="22" name="Text 16"/>
          <p:cNvSpPr/>
          <p:nvPr/>
        </p:nvSpPr>
        <p:spPr>
          <a:xfrm>
            <a:off x="1530604" y="3956304"/>
            <a:ext cx="2310384" cy="713232"/>
          </a:xfrm>
          <a:prstGeom prst="rect">
            <a:avLst/>
          </a:prstGeom>
          <a:noFill/>
          <a:ln/>
        </p:spPr>
        <p:txBody>
          <a:bodyPr wrap="square" rtlCol="0" anchor="t"/>
          <a:lstStyle/>
          <a:p>
            <a:pPr marL="0" indent="0">
              <a:lnSpc>
                <a:spcPct val="105000"/>
              </a:lnSpc>
              <a:buNone/>
            </a:pPr>
            <a:r>
              <a:rPr lang="en-US" sz="1500" b="1" dirty="0">
                <a:solidFill>
                  <a:srgbClr val="0A2540"/>
                </a:solidFill>
                <a:latin typeface="Times New Roman" pitchFamily="34" charset="0"/>
                <a:ea typeface="Times New Roman" pitchFamily="34" charset="-122"/>
                <a:cs typeface="Times New Roman" pitchFamily="34" charset="-120"/>
              </a:rPr>
              <a:t>Multiple Sclerosis Diagnosis</a:t>
            </a:r>
            <a:endParaRPr lang="en-US" sz="1500" dirty="0"/>
          </a:p>
        </p:txBody>
      </p:sp>
      <p:sp>
        <p:nvSpPr>
          <p:cNvPr id="23" name="Text 17"/>
          <p:cNvSpPr/>
          <p:nvPr/>
        </p:nvSpPr>
        <p:spPr>
          <a:xfrm>
            <a:off x="749808" y="4391152"/>
            <a:ext cx="3105912" cy="1005840"/>
          </a:xfrm>
          <a:prstGeom prst="rect">
            <a:avLst/>
          </a:prstGeom>
          <a:noFill/>
          <a:ln/>
        </p:spPr>
        <p:txBody>
          <a:bodyPr wrap="square" rtlCol="0" anchor="ctr"/>
          <a:lstStyle/>
          <a:p>
            <a:pPr marL="0" indent="0">
              <a:lnSpc>
                <a:spcPct val="120000"/>
              </a:lnSpc>
              <a:buNone/>
            </a:pPr>
            <a:r>
              <a:rPr lang="en-US" sz="1200" dirty="0">
                <a:solidFill>
                  <a:srgbClr val="374856"/>
                </a:solidFill>
                <a:latin typeface="Times New Roman" pitchFamily="34" charset="0"/>
                <a:ea typeface="Times New Roman" pitchFamily="34" charset="-122"/>
                <a:cs typeface="Times New Roman" pitchFamily="34" charset="-120"/>
              </a:rPr>
              <a:t>Detects lesions in brain and spinal cord tissue.</a:t>
            </a:r>
            <a:endParaRPr lang="en-US" sz="1200" dirty="0"/>
          </a:p>
        </p:txBody>
      </p:sp>
      <p:sp>
        <p:nvSpPr>
          <p:cNvPr id="24" name="Shape 18"/>
          <p:cNvSpPr/>
          <p:nvPr/>
        </p:nvSpPr>
        <p:spPr>
          <a:xfrm>
            <a:off x="4322064" y="3712464"/>
            <a:ext cx="3544824" cy="2084832"/>
          </a:xfrm>
          <a:prstGeom prst="roundRect">
            <a:avLst>
              <a:gd name="adj" fmla="val 3947"/>
            </a:avLst>
          </a:prstGeom>
          <a:solidFill>
            <a:srgbClr val="FFFFFF"/>
          </a:solidFill>
          <a:ln w="12700">
            <a:solidFill>
              <a:srgbClr val="D7E1E8"/>
            </a:solidFill>
            <a:prstDash val="solid"/>
          </a:ln>
        </p:spPr>
        <p:txBody>
          <a:bodyPr/>
          <a:lstStyle/>
          <a:p>
            <a:endParaRPr lang="en-US"/>
          </a:p>
        </p:txBody>
      </p:sp>
      <p:sp>
        <p:nvSpPr>
          <p:cNvPr id="25" name="Shape 19"/>
          <p:cNvSpPr/>
          <p:nvPr/>
        </p:nvSpPr>
        <p:spPr>
          <a:xfrm>
            <a:off x="4541520" y="3931920"/>
            <a:ext cx="694944" cy="694944"/>
          </a:xfrm>
          <a:prstGeom prst="ellipse">
            <a:avLst/>
          </a:prstGeom>
          <a:solidFill>
            <a:srgbClr val="0B4F8A"/>
          </a:solidFill>
          <a:ln/>
        </p:spPr>
        <p:txBody>
          <a:bodyPr/>
          <a:lstStyle/>
          <a:p>
            <a:endParaRPr lang="en-US"/>
          </a:p>
        </p:txBody>
      </p:sp>
      <p:pic>
        <p:nvPicPr>
          <p:cNvPr id="26" name="Image 4" descr="icons/ortho_white.png"/>
          <p:cNvPicPr>
            <a:picLocks noChangeAspect="1"/>
          </p:cNvPicPr>
          <p:nvPr/>
        </p:nvPicPr>
        <p:blipFill>
          <a:blip r:embed="rId7"/>
          <a:stretch>
            <a:fillRect/>
          </a:stretch>
        </p:blipFill>
        <p:spPr>
          <a:xfrm>
            <a:off x="4742688" y="4133088"/>
            <a:ext cx="292608" cy="292608"/>
          </a:xfrm>
          <a:prstGeom prst="rect">
            <a:avLst/>
          </a:prstGeom>
        </p:spPr>
      </p:pic>
      <p:sp>
        <p:nvSpPr>
          <p:cNvPr id="27" name="Text 20"/>
          <p:cNvSpPr/>
          <p:nvPr/>
        </p:nvSpPr>
        <p:spPr>
          <a:xfrm>
            <a:off x="5405120" y="4071112"/>
            <a:ext cx="2310384" cy="713232"/>
          </a:xfrm>
          <a:prstGeom prst="rect">
            <a:avLst/>
          </a:prstGeom>
          <a:noFill/>
          <a:ln/>
        </p:spPr>
        <p:txBody>
          <a:bodyPr wrap="square" rtlCol="0" anchor="t"/>
          <a:lstStyle/>
          <a:p>
            <a:pPr marL="0" indent="0">
              <a:lnSpc>
                <a:spcPct val="105000"/>
              </a:lnSpc>
              <a:buNone/>
            </a:pPr>
            <a:r>
              <a:rPr lang="en-US" sz="1500" b="1" dirty="0">
                <a:solidFill>
                  <a:srgbClr val="0A2540"/>
                </a:solidFill>
                <a:latin typeface="Times New Roman" pitchFamily="34" charset="0"/>
                <a:ea typeface="Times New Roman" pitchFamily="34" charset="-122"/>
                <a:cs typeface="Times New Roman" pitchFamily="34" charset="-120"/>
              </a:rPr>
              <a:t>Orthopedic MRI Analysis</a:t>
            </a:r>
            <a:endParaRPr lang="en-US" sz="1500" dirty="0"/>
          </a:p>
        </p:txBody>
      </p:sp>
      <p:sp>
        <p:nvSpPr>
          <p:cNvPr id="28" name="Text 21"/>
          <p:cNvSpPr/>
          <p:nvPr/>
        </p:nvSpPr>
        <p:spPr>
          <a:xfrm>
            <a:off x="4543552" y="4343400"/>
            <a:ext cx="3105912" cy="1005840"/>
          </a:xfrm>
          <a:prstGeom prst="rect">
            <a:avLst/>
          </a:prstGeom>
          <a:noFill/>
          <a:ln/>
        </p:spPr>
        <p:txBody>
          <a:bodyPr wrap="square" rtlCol="0" anchor="ctr"/>
          <a:lstStyle/>
          <a:p>
            <a:pPr marL="0" indent="0">
              <a:lnSpc>
                <a:spcPct val="120000"/>
              </a:lnSpc>
              <a:buNone/>
            </a:pPr>
            <a:r>
              <a:rPr lang="en-US" sz="1200" dirty="0">
                <a:solidFill>
                  <a:srgbClr val="374856"/>
                </a:solidFill>
                <a:latin typeface="Times New Roman" pitchFamily="34" charset="0"/>
                <a:ea typeface="Times New Roman" pitchFamily="34" charset="-122"/>
                <a:cs typeface="Times New Roman" pitchFamily="34" charset="-120"/>
              </a:rPr>
              <a:t>Assesses joint, ligament, and cartilage damage.</a:t>
            </a:r>
            <a:endParaRPr lang="en-US" sz="1200" dirty="0"/>
          </a:p>
        </p:txBody>
      </p:sp>
      <p:sp>
        <p:nvSpPr>
          <p:cNvPr id="29" name="Shape 22"/>
          <p:cNvSpPr/>
          <p:nvPr/>
        </p:nvSpPr>
        <p:spPr>
          <a:xfrm>
            <a:off x="8141208" y="3712464"/>
            <a:ext cx="3544824" cy="2084832"/>
          </a:xfrm>
          <a:prstGeom prst="roundRect">
            <a:avLst>
              <a:gd name="adj" fmla="val 3947"/>
            </a:avLst>
          </a:prstGeom>
          <a:solidFill>
            <a:srgbClr val="FFFFFF"/>
          </a:solidFill>
          <a:ln w="12700">
            <a:solidFill>
              <a:srgbClr val="D7E1E8"/>
            </a:solidFill>
            <a:prstDash val="solid"/>
          </a:ln>
        </p:spPr>
        <p:txBody>
          <a:bodyPr/>
          <a:lstStyle/>
          <a:p>
            <a:endParaRPr lang="en-US"/>
          </a:p>
        </p:txBody>
      </p:sp>
      <p:sp>
        <p:nvSpPr>
          <p:cNvPr id="30" name="Shape 23"/>
          <p:cNvSpPr/>
          <p:nvPr/>
        </p:nvSpPr>
        <p:spPr>
          <a:xfrm>
            <a:off x="8360664" y="3931920"/>
            <a:ext cx="694944" cy="694944"/>
          </a:xfrm>
          <a:prstGeom prst="ellipse">
            <a:avLst/>
          </a:prstGeom>
          <a:solidFill>
            <a:srgbClr val="0B4F8A"/>
          </a:solidFill>
          <a:ln/>
        </p:spPr>
        <p:txBody>
          <a:bodyPr/>
          <a:lstStyle/>
          <a:p>
            <a:endParaRPr lang="en-US"/>
          </a:p>
        </p:txBody>
      </p:sp>
      <p:pic>
        <p:nvPicPr>
          <p:cNvPr id="31" name="Image 5" descr="icons/cancer_white.png"/>
          <p:cNvPicPr>
            <a:picLocks noChangeAspect="1"/>
          </p:cNvPicPr>
          <p:nvPr/>
        </p:nvPicPr>
        <p:blipFill>
          <a:blip r:embed="rId8"/>
          <a:stretch>
            <a:fillRect/>
          </a:stretch>
        </p:blipFill>
        <p:spPr>
          <a:xfrm>
            <a:off x="8561832" y="4133088"/>
            <a:ext cx="292608" cy="292608"/>
          </a:xfrm>
          <a:prstGeom prst="rect">
            <a:avLst/>
          </a:prstGeom>
        </p:spPr>
      </p:pic>
      <p:sp>
        <p:nvSpPr>
          <p:cNvPr id="32" name="Text 24"/>
          <p:cNvSpPr/>
          <p:nvPr/>
        </p:nvSpPr>
        <p:spPr>
          <a:xfrm>
            <a:off x="9183624" y="4034536"/>
            <a:ext cx="2310384" cy="713232"/>
          </a:xfrm>
          <a:prstGeom prst="rect">
            <a:avLst/>
          </a:prstGeom>
          <a:noFill/>
          <a:ln/>
        </p:spPr>
        <p:txBody>
          <a:bodyPr wrap="square" rtlCol="0" anchor="t"/>
          <a:lstStyle/>
          <a:p>
            <a:pPr marL="0" indent="0">
              <a:lnSpc>
                <a:spcPct val="105000"/>
              </a:lnSpc>
              <a:buNone/>
            </a:pPr>
            <a:r>
              <a:rPr lang="en-US" sz="1500" b="1" dirty="0">
                <a:solidFill>
                  <a:srgbClr val="0A2540"/>
                </a:solidFill>
                <a:latin typeface="Times New Roman" pitchFamily="34" charset="0"/>
                <a:ea typeface="Times New Roman" pitchFamily="34" charset="-122"/>
                <a:cs typeface="Times New Roman" pitchFamily="34" charset="-120"/>
              </a:rPr>
              <a:t>Cancer Detection</a:t>
            </a:r>
            <a:endParaRPr lang="en-US" sz="1500" dirty="0"/>
          </a:p>
        </p:txBody>
      </p:sp>
      <p:sp>
        <p:nvSpPr>
          <p:cNvPr id="33" name="Text 25"/>
          <p:cNvSpPr/>
          <p:nvPr/>
        </p:nvSpPr>
        <p:spPr>
          <a:xfrm>
            <a:off x="8360664" y="4493768"/>
            <a:ext cx="3105912" cy="1005840"/>
          </a:xfrm>
          <a:prstGeom prst="rect">
            <a:avLst/>
          </a:prstGeom>
          <a:noFill/>
          <a:ln/>
        </p:spPr>
        <p:txBody>
          <a:bodyPr wrap="square" rtlCol="0" anchor="ctr"/>
          <a:lstStyle/>
          <a:p>
            <a:pPr marL="0" indent="0">
              <a:lnSpc>
                <a:spcPct val="120000"/>
              </a:lnSpc>
              <a:buNone/>
            </a:pPr>
            <a:r>
              <a:rPr lang="en-US" sz="1200" dirty="0">
                <a:solidFill>
                  <a:srgbClr val="374856"/>
                </a:solidFill>
                <a:latin typeface="Times New Roman" pitchFamily="34" charset="0"/>
                <a:ea typeface="Times New Roman" pitchFamily="34" charset="-122"/>
                <a:cs typeface="Times New Roman" pitchFamily="34" charset="-120"/>
              </a:rPr>
              <a:t>Supports early identification of tumors in soft tissue.</a:t>
            </a:r>
            <a:endParaRPr lang="en-US" sz="1200" dirty="0"/>
          </a:p>
        </p:txBody>
      </p:sp>
      <p:sp>
        <p:nvSpPr>
          <p:cNvPr id="34" name="Text 26"/>
          <p:cNvSpPr/>
          <p:nvPr/>
        </p:nvSpPr>
        <p:spPr>
          <a:xfrm>
            <a:off x="502920" y="5870448"/>
            <a:ext cx="11183112" cy="274320"/>
          </a:xfrm>
          <a:prstGeom prst="rect">
            <a:avLst/>
          </a:prstGeom>
          <a:noFill/>
          <a:ln/>
        </p:spPr>
        <p:txBody>
          <a:bodyPr wrap="square" rtlCol="0" anchor="ctr"/>
          <a:lstStyle/>
          <a:p>
            <a:pPr marL="0" indent="0">
              <a:buNone/>
            </a:pPr>
            <a:r>
              <a:rPr lang="en-US" sz="1000" b="1" i="1" dirty="0">
                <a:solidFill>
                  <a:srgbClr val="2FB8A6"/>
                </a:solidFill>
                <a:latin typeface="Times New Roman" pitchFamily="34" charset="0"/>
                <a:ea typeface="Times New Roman" pitchFamily="34" charset="-122"/>
                <a:cs typeface="Times New Roman" pitchFamily="34" charset="-120"/>
              </a:rPr>
              <a:t>[1] </a:t>
            </a:r>
            <a:r>
              <a:rPr lang="en-US" sz="1000" i="1" dirty="0">
                <a:solidFill>
                  <a:srgbClr val="4C606D"/>
                </a:solidFill>
                <a:latin typeface="Times New Roman" pitchFamily="34" charset="0"/>
                <a:ea typeface="Times New Roman" pitchFamily="34" charset="-122"/>
                <a:cs typeface="Times New Roman" pitchFamily="34" charset="-120"/>
              </a:rPr>
              <a:t>Krolik et al., “MRI Brain Tumor Detection with Computer Vision,” arXiv:2510.10250 (2025) — CNN, ResNet, U-Net &amp; EfficientDet models improved detection accuracy.</a:t>
            </a:r>
            <a:endParaRPr lang="en-US" sz="1000" dirty="0"/>
          </a:p>
        </p:txBody>
      </p:sp>
      <p:sp>
        <p:nvSpPr>
          <p:cNvPr id="35" name="Text 27"/>
          <p:cNvSpPr/>
          <p:nvPr/>
        </p:nvSpPr>
        <p:spPr>
          <a:xfrm>
            <a:off x="457200" y="6492240"/>
            <a:ext cx="6400800" cy="292608"/>
          </a:xfrm>
          <a:prstGeom prst="rect">
            <a:avLst/>
          </a:prstGeom>
          <a:noFill/>
          <a:ln/>
        </p:spPr>
        <p:txBody>
          <a:bodyPr wrap="square" rtlCol="0" anchor="ctr"/>
          <a:lstStyle/>
          <a:p>
            <a:pPr marL="0" indent="0" algn="l">
              <a:buNone/>
            </a:pPr>
            <a:r>
              <a:rPr lang="en-US" sz="1050" dirty="0">
                <a:solidFill>
                  <a:srgbClr val="4C606D"/>
                </a:solidFill>
                <a:latin typeface="Times New Roman" pitchFamily="34" charset="0"/>
                <a:ea typeface="Times New Roman" pitchFamily="34" charset="-122"/>
                <a:cs typeface="Times New Roman" pitchFamily="34" charset="-120"/>
              </a:rPr>
              <a:t>Medical AI System for MRI Image Analysis</a:t>
            </a:r>
            <a:endParaRPr lang="en-US" sz="1050" dirty="0"/>
          </a:p>
        </p:txBody>
      </p:sp>
      <p:sp>
        <p:nvSpPr>
          <p:cNvPr id="36" name="Text 28"/>
          <p:cNvSpPr/>
          <p:nvPr/>
        </p:nvSpPr>
        <p:spPr>
          <a:xfrm>
            <a:off x="11274552" y="6492240"/>
            <a:ext cx="457200" cy="292608"/>
          </a:xfrm>
          <a:prstGeom prst="rect">
            <a:avLst/>
          </a:prstGeom>
          <a:noFill/>
          <a:ln/>
        </p:spPr>
        <p:txBody>
          <a:bodyPr wrap="square" rtlCol="0" anchor="ctr"/>
          <a:lstStyle/>
          <a:p>
            <a:pPr marL="0" indent="0" algn="r">
              <a:buNone/>
            </a:pPr>
            <a:r>
              <a:rPr lang="en-US" sz="1050" dirty="0">
                <a:solidFill>
                  <a:srgbClr val="4C606D"/>
                </a:solidFill>
                <a:latin typeface="Times New Roman" pitchFamily="34" charset="0"/>
                <a:ea typeface="Times New Roman" pitchFamily="34" charset="-122"/>
                <a:cs typeface="Times New Roman" pitchFamily="34" charset="-120"/>
              </a:rPr>
              <a:t>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566928"/>
          </a:xfrm>
          <a:prstGeom prst="rect">
            <a:avLst/>
          </a:prstGeom>
          <a:noFill/>
          <a:ln/>
        </p:spPr>
        <p:txBody>
          <a:bodyPr wrap="square" rtlCol="0" anchor="ctr"/>
          <a:lstStyle/>
          <a:p>
            <a:pPr marL="0" indent="0">
              <a:buNone/>
            </a:pPr>
            <a:r>
              <a:rPr lang="en-US" sz="3200" b="1" dirty="0">
                <a:solidFill>
                  <a:srgbClr val="0A2540"/>
                </a:solidFill>
                <a:latin typeface="Times New Roman" pitchFamily="34" charset="0"/>
                <a:ea typeface="Times New Roman" pitchFamily="34" charset="-122"/>
                <a:cs typeface="Times New Roman" pitchFamily="34" charset="-120"/>
              </a:rPr>
              <a:t>Complete Workflow</a:t>
            </a:r>
            <a:endParaRPr lang="en-US" sz="3200" dirty="0"/>
          </a:p>
        </p:txBody>
      </p:sp>
      <p:sp>
        <p:nvSpPr>
          <p:cNvPr id="3" name="Text 1"/>
          <p:cNvSpPr/>
          <p:nvPr/>
        </p:nvSpPr>
        <p:spPr>
          <a:xfrm>
            <a:off x="548640" y="896112"/>
            <a:ext cx="9144000" cy="329184"/>
          </a:xfrm>
          <a:prstGeom prst="rect">
            <a:avLst/>
          </a:prstGeom>
          <a:noFill/>
          <a:ln/>
        </p:spPr>
        <p:txBody>
          <a:bodyPr wrap="square" rtlCol="0" anchor="ctr"/>
          <a:lstStyle/>
          <a:p>
            <a:pPr marL="0" indent="0">
              <a:buNone/>
            </a:pPr>
            <a:r>
              <a:rPr lang="en-US" sz="1400" i="1" dirty="0">
                <a:solidFill>
                  <a:srgbClr val="374856"/>
                </a:solidFill>
                <a:latin typeface="Times New Roman" pitchFamily="34" charset="0"/>
                <a:ea typeface="Times New Roman" pitchFamily="34" charset="-122"/>
                <a:cs typeface="Times New Roman" pitchFamily="34" charset="-120"/>
              </a:rPr>
              <a:t>From patient scan to doctor's decision — the end-to-end AI pipeline</a:t>
            </a:r>
            <a:endParaRPr lang="en-US" sz="1400" dirty="0"/>
          </a:p>
        </p:txBody>
      </p:sp>
      <p:sp>
        <p:nvSpPr>
          <p:cNvPr id="4" name="Shape 2"/>
          <p:cNvSpPr/>
          <p:nvPr/>
        </p:nvSpPr>
        <p:spPr>
          <a:xfrm>
            <a:off x="585724" y="2331720"/>
            <a:ext cx="914400" cy="914400"/>
          </a:xfrm>
          <a:prstGeom prst="ellipse">
            <a:avLst/>
          </a:prstGeom>
          <a:solidFill>
            <a:srgbClr val="0B4F8A"/>
          </a:solidFill>
          <a:ln w="25400">
            <a:solidFill>
              <a:srgbClr val="FFFFFF"/>
            </a:solidFill>
            <a:prstDash val="solid"/>
          </a:ln>
        </p:spPr>
        <p:txBody>
          <a:bodyPr/>
          <a:lstStyle/>
          <a:p>
            <a:endParaRPr lang="en-US"/>
          </a:p>
        </p:txBody>
      </p:sp>
      <p:pic>
        <p:nvPicPr>
          <p:cNvPr id="5" name="Image 0" descr="icons/patient_white.png"/>
          <p:cNvPicPr>
            <a:picLocks noChangeAspect="1"/>
          </p:cNvPicPr>
          <p:nvPr/>
        </p:nvPicPr>
        <p:blipFill>
          <a:blip r:embed="rId3"/>
          <a:stretch>
            <a:fillRect/>
          </a:stretch>
        </p:blipFill>
        <p:spPr>
          <a:xfrm>
            <a:off x="768604" y="2514600"/>
            <a:ext cx="548640" cy="548640"/>
          </a:xfrm>
          <a:prstGeom prst="rect">
            <a:avLst/>
          </a:prstGeom>
        </p:spPr>
      </p:pic>
      <p:sp>
        <p:nvSpPr>
          <p:cNvPr id="6" name="Text 3"/>
          <p:cNvSpPr/>
          <p:nvPr/>
        </p:nvSpPr>
        <p:spPr>
          <a:xfrm>
            <a:off x="438912" y="3374136"/>
            <a:ext cx="1208024" cy="566928"/>
          </a:xfrm>
          <a:prstGeom prst="rect">
            <a:avLst/>
          </a:prstGeom>
          <a:noFill/>
          <a:ln/>
        </p:spPr>
        <p:txBody>
          <a:bodyPr wrap="square" rtlCol="0" anchor="ctr"/>
          <a:lstStyle/>
          <a:p>
            <a:pPr marL="0" indent="0" algn="ctr">
              <a:lnSpc>
                <a:spcPct val="102000"/>
              </a:lnSpc>
              <a:buNone/>
            </a:pPr>
            <a:r>
              <a:rPr lang="en-US" sz="1100" b="1" dirty="0">
                <a:solidFill>
                  <a:srgbClr val="0A2540"/>
                </a:solidFill>
                <a:latin typeface="Times New Roman" pitchFamily="34" charset="0"/>
                <a:ea typeface="Times New Roman" pitchFamily="34" charset="-122"/>
                <a:cs typeface="Times New Roman" pitchFamily="34" charset="-120"/>
              </a:rPr>
              <a:t>Patient</a:t>
            </a:r>
            <a:endParaRPr lang="en-US" sz="1100" dirty="0"/>
          </a:p>
        </p:txBody>
      </p:sp>
      <p:sp>
        <p:nvSpPr>
          <p:cNvPr id="7" name="Shape 4"/>
          <p:cNvSpPr/>
          <p:nvPr/>
        </p:nvSpPr>
        <p:spPr>
          <a:xfrm>
            <a:off x="1536700" y="2706624"/>
            <a:ext cx="275336" cy="164592"/>
          </a:xfrm>
          <a:prstGeom prst="rightArrow">
            <a:avLst/>
          </a:prstGeom>
          <a:solidFill>
            <a:srgbClr val="4C606D"/>
          </a:solidFill>
          <a:ln/>
        </p:spPr>
        <p:txBody>
          <a:bodyPr/>
          <a:lstStyle/>
          <a:p>
            <a:endParaRPr lang="en-US"/>
          </a:p>
        </p:txBody>
      </p:sp>
      <p:sp>
        <p:nvSpPr>
          <p:cNvPr id="8" name="Shape 5"/>
          <p:cNvSpPr/>
          <p:nvPr/>
        </p:nvSpPr>
        <p:spPr>
          <a:xfrm>
            <a:off x="1848612" y="2331720"/>
            <a:ext cx="914400" cy="914400"/>
          </a:xfrm>
          <a:prstGeom prst="ellipse">
            <a:avLst/>
          </a:prstGeom>
          <a:solidFill>
            <a:srgbClr val="0B4F8A"/>
          </a:solidFill>
          <a:ln w="25400">
            <a:solidFill>
              <a:srgbClr val="FFFFFF"/>
            </a:solidFill>
            <a:prstDash val="solid"/>
          </a:ln>
        </p:spPr>
        <p:txBody>
          <a:bodyPr/>
          <a:lstStyle/>
          <a:p>
            <a:endParaRPr lang="en-US"/>
          </a:p>
        </p:txBody>
      </p:sp>
      <p:pic>
        <p:nvPicPr>
          <p:cNvPr id="9" name="Image 1" descr="icons/scanner_white.png"/>
          <p:cNvPicPr>
            <a:picLocks noChangeAspect="1"/>
          </p:cNvPicPr>
          <p:nvPr/>
        </p:nvPicPr>
        <p:blipFill>
          <a:blip r:embed="rId4"/>
          <a:stretch>
            <a:fillRect/>
          </a:stretch>
        </p:blipFill>
        <p:spPr>
          <a:xfrm>
            <a:off x="2031492" y="2514600"/>
            <a:ext cx="548640" cy="548640"/>
          </a:xfrm>
          <a:prstGeom prst="rect">
            <a:avLst/>
          </a:prstGeom>
        </p:spPr>
      </p:pic>
      <p:sp>
        <p:nvSpPr>
          <p:cNvPr id="10" name="Text 6"/>
          <p:cNvSpPr/>
          <p:nvPr/>
        </p:nvSpPr>
        <p:spPr>
          <a:xfrm>
            <a:off x="1701800" y="3374136"/>
            <a:ext cx="1208024" cy="566928"/>
          </a:xfrm>
          <a:prstGeom prst="rect">
            <a:avLst/>
          </a:prstGeom>
          <a:noFill/>
          <a:ln/>
        </p:spPr>
        <p:txBody>
          <a:bodyPr wrap="square" rtlCol="0" anchor="ctr"/>
          <a:lstStyle/>
          <a:p>
            <a:pPr marL="0" indent="0" algn="ctr">
              <a:lnSpc>
                <a:spcPct val="102000"/>
              </a:lnSpc>
              <a:buNone/>
            </a:pPr>
            <a:r>
              <a:rPr lang="en-US" sz="1100" b="1" dirty="0">
                <a:solidFill>
                  <a:srgbClr val="0A2540"/>
                </a:solidFill>
                <a:latin typeface="Times New Roman" pitchFamily="34" charset="0"/>
                <a:ea typeface="Times New Roman" pitchFamily="34" charset="-122"/>
                <a:cs typeface="Times New Roman" pitchFamily="34" charset="-120"/>
              </a:rPr>
              <a:t>MRI</a:t>
            </a:r>
            <a:endParaRPr lang="en-US" sz="1100" dirty="0"/>
          </a:p>
          <a:p>
            <a:pPr marL="0" indent="0" algn="ctr">
              <a:lnSpc>
                <a:spcPct val="102000"/>
              </a:lnSpc>
              <a:buNone/>
            </a:pPr>
            <a:r>
              <a:rPr lang="en-US" sz="1100" b="1" dirty="0">
                <a:solidFill>
                  <a:srgbClr val="0A2540"/>
                </a:solidFill>
                <a:latin typeface="Times New Roman" pitchFamily="34" charset="0"/>
                <a:ea typeface="Times New Roman" pitchFamily="34" charset="-122"/>
                <a:cs typeface="Times New Roman" pitchFamily="34" charset="-120"/>
              </a:rPr>
              <a:t>Scanner</a:t>
            </a:r>
            <a:endParaRPr lang="en-US" sz="1100" dirty="0"/>
          </a:p>
        </p:txBody>
      </p:sp>
      <p:sp>
        <p:nvSpPr>
          <p:cNvPr id="11" name="Shape 7"/>
          <p:cNvSpPr/>
          <p:nvPr/>
        </p:nvSpPr>
        <p:spPr>
          <a:xfrm>
            <a:off x="2799588" y="2706624"/>
            <a:ext cx="275336" cy="164592"/>
          </a:xfrm>
          <a:prstGeom prst="rightArrow">
            <a:avLst/>
          </a:prstGeom>
          <a:solidFill>
            <a:srgbClr val="4C606D"/>
          </a:solidFill>
          <a:ln/>
        </p:spPr>
        <p:txBody>
          <a:bodyPr/>
          <a:lstStyle/>
          <a:p>
            <a:endParaRPr lang="en-US"/>
          </a:p>
        </p:txBody>
      </p:sp>
      <p:sp>
        <p:nvSpPr>
          <p:cNvPr id="12" name="Shape 8"/>
          <p:cNvSpPr/>
          <p:nvPr/>
        </p:nvSpPr>
        <p:spPr>
          <a:xfrm>
            <a:off x="3111500" y="2331720"/>
            <a:ext cx="914400" cy="914400"/>
          </a:xfrm>
          <a:prstGeom prst="ellipse">
            <a:avLst/>
          </a:prstGeom>
          <a:solidFill>
            <a:srgbClr val="0B4F8A"/>
          </a:solidFill>
          <a:ln w="25400">
            <a:solidFill>
              <a:srgbClr val="FFFFFF"/>
            </a:solidFill>
            <a:prstDash val="solid"/>
          </a:ln>
        </p:spPr>
        <p:txBody>
          <a:bodyPr/>
          <a:lstStyle/>
          <a:p>
            <a:endParaRPr lang="en-US"/>
          </a:p>
        </p:txBody>
      </p:sp>
      <p:pic>
        <p:nvPicPr>
          <p:cNvPr id="13" name="Image 2" descr="icons/mri_white.png"/>
          <p:cNvPicPr>
            <a:picLocks noChangeAspect="1"/>
          </p:cNvPicPr>
          <p:nvPr/>
        </p:nvPicPr>
        <p:blipFill>
          <a:blip r:embed="rId5"/>
          <a:stretch>
            <a:fillRect/>
          </a:stretch>
        </p:blipFill>
        <p:spPr>
          <a:xfrm>
            <a:off x="3294380" y="2514600"/>
            <a:ext cx="548640" cy="548640"/>
          </a:xfrm>
          <a:prstGeom prst="rect">
            <a:avLst/>
          </a:prstGeom>
        </p:spPr>
      </p:pic>
      <p:sp>
        <p:nvSpPr>
          <p:cNvPr id="14" name="Text 9"/>
          <p:cNvSpPr/>
          <p:nvPr/>
        </p:nvSpPr>
        <p:spPr>
          <a:xfrm>
            <a:off x="2964688" y="3374136"/>
            <a:ext cx="1208024" cy="566928"/>
          </a:xfrm>
          <a:prstGeom prst="rect">
            <a:avLst/>
          </a:prstGeom>
          <a:noFill/>
          <a:ln/>
        </p:spPr>
        <p:txBody>
          <a:bodyPr wrap="square" rtlCol="0" anchor="ctr"/>
          <a:lstStyle/>
          <a:p>
            <a:pPr marL="0" indent="0" algn="ctr">
              <a:lnSpc>
                <a:spcPct val="102000"/>
              </a:lnSpc>
              <a:buNone/>
            </a:pPr>
            <a:r>
              <a:rPr lang="en-US" sz="1100" b="1" dirty="0">
                <a:solidFill>
                  <a:srgbClr val="0A2540"/>
                </a:solidFill>
                <a:latin typeface="Times New Roman" pitchFamily="34" charset="0"/>
                <a:ea typeface="Times New Roman" pitchFamily="34" charset="-122"/>
                <a:cs typeface="Times New Roman" pitchFamily="34" charset="-120"/>
              </a:rPr>
              <a:t>MRI</a:t>
            </a:r>
            <a:endParaRPr lang="en-US" sz="1100" dirty="0"/>
          </a:p>
          <a:p>
            <a:pPr marL="0" indent="0" algn="ctr">
              <a:lnSpc>
                <a:spcPct val="102000"/>
              </a:lnSpc>
              <a:buNone/>
            </a:pPr>
            <a:r>
              <a:rPr lang="en-US" sz="1100" b="1" dirty="0">
                <a:solidFill>
                  <a:srgbClr val="0A2540"/>
                </a:solidFill>
                <a:latin typeface="Times New Roman" pitchFamily="34" charset="0"/>
                <a:ea typeface="Times New Roman" pitchFamily="34" charset="-122"/>
                <a:cs typeface="Times New Roman" pitchFamily="34" charset="-120"/>
              </a:rPr>
              <a:t>Image</a:t>
            </a:r>
            <a:endParaRPr lang="en-US" sz="1100" dirty="0"/>
          </a:p>
        </p:txBody>
      </p:sp>
      <p:sp>
        <p:nvSpPr>
          <p:cNvPr id="15" name="Shape 10"/>
          <p:cNvSpPr/>
          <p:nvPr/>
        </p:nvSpPr>
        <p:spPr>
          <a:xfrm>
            <a:off x="4062476" y="2706624"/>
            <a:ext cx="275336" cy="164592"/>
          </a:xfrm>
          <a:prstGeom prst="rightArrow">
            <a:avLst/>
          </a:prstGeom>
          <a:solidFill>
            <a:srgbClr val="4C606D"/>
          </a:solidFill>
          <a:ln/>
        </p:spPr>
        <p:txBody>
          <a:bodyPr/>
          <a:lstStyle/>
          <a:p>
            <a:endParaRPr lang="en-US"/>
          </a:p>
        </p:txBody>
      </p:sp>
      <p:sp>
        <p:nvSpPr>
          <p:cNvPr id="16" name="Shape 11"/>
          <p:cNvSpPr/>
          <p:nvPr/>
        </p:nvSpPr>
        <p:spPr>
          <a:xfrm>
            <a:off x="4374388" y="2331720"/>
            <a:ext cx="914400" cy="914400"/>
          </a:xfrm>
          <a:prstGeom prst="ellipse">
            <a:avLst/>
          </a:prstGeom>
          <a:solidFill>
            <a:srgbClr val="0B4F8A"/>
          </a:solidFill>
          <a:ln w="25400">
            <a:solidFill>
              <a:srgbClr val="FFFFFF"/>
            </a:solidFill>
            <a:prstDash val="solid"/>
          </a:ln>
        </p:spPr>
        <p:txBody>
          <a:bodyPr/>
          <a:lstStyle/>
          <a:p>
            <a:endParaRPr lang="en-US"/>
          </a:p>
        </p:txBody>
      </p:sp>
      <p:pic>
        <p:nvPicPr>
          <p:cNvPr id="17" name="Image 3" descr="icons/gear_white.png"/>
          <p:cNvPicPr>
            <a:picLocks noChangeAspect="1"/>
          </p:cNvPicPr>
          <p:nvPr/>
        </p:nvPicPr>
        <p:blipFill>
          <a:blip r:embed="rId6"/>
          <a:stretch>
            <a:fillRect/>
          </a:stretch>
        </p:blipFill>
        <p:spPr>
          <a:xfrm>
            <a:off x="4557268" y="2514600"/>
            <a:ext cx="548640" cy="548640"/>
          </a:xfrm>
          <a:prstGeom prst="rect">
            <a:avLst/>
          </a:prstGeom>
        </p:spPr>
      </p:pic>
      <p:sp>
        <p:nvSpPr>
          <p:cNvPr id="18" name="Text 12"/>
          <p:cNvSpPr/>
          <p:nvPr/>
        </p:nvSpPr>
        <p:spPr>
          <a:xfrm>
            <a:off x="4227576" y="3374136"/>
            <a:ext cx="1208024" cy="566928"/>
          </a:xfrm>
          <a:prstGeom prst="rect">
            <a:avLst/>
          </a:prstGeom>
          <a:noFill/>
          <a:ln/>
        </p:spPr>
        <p:txBody>
          <a:bodyPr wrap="square" rtlCol="0" anchor="ctr"/>
          <a:lstStyle/>
          <a:p>
            <a:pPr marL="0" indent="0" algn="ctr">
              <a:lnSpc>
                <a:spcPct val="102000"/>
              </a:lnSpc>
              <a:buNone/>
            </a:pPr>
            <a:r>
              <a:rPr lang="en-US" sz="1100" b="1" dirty="0">
                <a:solidFill>
                  <a:srgbClr val="0A2540"/>
                </a:solidFill>
                <a:latin typeface="Times New Roman" pitchFamily="34" charset="0"/>
                <a:ea typeface="Times New Roman" pitchFamily="34" charset="-122"/>
                <a:cs typeface="Times New Roman" pitchFamily="34" charset="-120"/>
              </a:rPr>
              <a:t>Pre-</a:t>
            </a:r>
            <a:endParaRPr lang="en-US" sz="1100" dirty="0"/>
          </a:p>
          <a:p>
            <a:pPr marL="0" indent="0" algn="ctr">
              <a:lnSpc>
                <a:spcPct val="102000"/>
              </a:lnSpc>
              <a:buNone/>
            </a:pPr>
            <a:r>
              <a:rPr lang="en-US" sz="1100" b="1" dirty="0">
                <a:solidFill>
                  <a:srgbClr val="0A2540"/>
                </a:solidFill>
                <a:latin typeface="Times New Roman" pitchFamily="34" charset="0"/>
                <a:ea typeface="Times New Roman" pitchFamily="34" charset="-122"/>
                <a:cs typeface="Times New Roman" pitchFamily="34" charset="-120"/>
              </a:rPr>
              <a:t>processing</a:t>
            </a:r>
            <a:endParaRPr lang="en-US" sz="1100" dirty="0"/>
          </a:p>
        </p:txBody>
      </p:sp>
      <p:sp>
        <p:nvSpPr>
          <p:cNvPr id="19" name="Shape 13"/>
          <p:cNvSpPr/>
          <p:nvPr/>
        </p:nvSpPr>
        <p:spPr>
          <a:xfrm>
            <a:off x="5325364" y="2706624"/>
            <a:ext cx="275336" cy="164592"/>
          </a:xfrm>
          <a:prstGeom prst="rightArrow">
            <a:avLst/>
          </a:prstGeom>
          <a:solidFill>
            <a:srgbClr val="4C606D"/>
          </a:solidFill>
          <a:ln/>
        </p:spPr>
        <p:txBody>
          <a:bodyPr/>
          <a:lstStyle/>
          <a:p>
            <a:endParaRPr lang="en-US"/>
          </a:p>
        </p:txBody>
      </p:sp>
      <p:sp>
        <p:nvSpPr>
          <p:cNvPr id="20" name="Shape 14"/>
          <p:cNvSpPr/>
          <p:nvPr/>
        </p:nvSpPr>
        <p:spPr>
          <a:xfrm>
            <a:off x="5637276" y="2331720"/>
            <a:ext cx="914400" cy="914400"/>
          </a:xfrm>
          <a:prstGeom prst="ellipse">
            <a:avLst/>
          </a:prstGeom>
          <a:solidFill>
            <a:srgbClr val="0B4F8A"/>
          </a:solidFill>
          <a:ln w="25400">
            <a:solidFill>
              <a:srgbClr val="FFFFFF"/>
            </a:solidFill>
            <a:prstDash val="solid"/>
          </a:ln>
        </p:spPr>
        <p:txBody>
          <a:bodyPr/>
          <a:lstStyle/>
          <a:p>
            <a:endParaRPr lang="en-US"/>
          </a:p>
        </p:txBody>
      </p:sp>
      <p:pic>
        <p:nvPicPr>
          <p:cNvPr id="21" name="Image 4" descr="icons/cropcut_white.png"/>
          <p:cNvPicPr>
            <a:picLocks noChangeAspect="1"/>
          </p:cNvPicPr>
          <p:nvPr/>
        </p:nvPicPr>
        <p:blipFill>
          <a:blip r:embed="rId7"/>
          <a:stretch>
            <a:fillRect/>
          </a:stretch>
        </p:blipFill>
        <p:spPr>
          <a:xfrm>
            <a:off x="5820156" y="2514600"/>
            <a:ext cx="548640" cy="548640"/>
          </a:xfrm>
          <a:prstGeom prst="rect">
            <a:avLst/>
          </a:prstGeom>
        </p:spPr>
      </p:pic>
      <p:sp>
        <p:nvSpPr>
          <p:cNvPr id="22" name="Text 15"/>
          <p:cNvSpPr/>
          <p:nvPr/>
        </p:nvSpPr>
        <p:spPr>
          <a:xfrm>
            <a:off x="5490464" y="3374136"/>
            <a:ext cx="1208024" cy="566928"/>
          </a:xfrm>
          <a:prstGeom prst="rect">
            <a:avLst/>
          </a:prstGeom>
          <a:noFill/>
          <a:ln/>
        </p:spPr>
        <p:txBody>
          <a:bodyPr wrap="square" rtlCol="0" anchor="ctr"/>
          <a:lstStyle/>
          <a:p>
            <a:pPr marL="0" indent="0" algn="ctr">
              <a:lnSpc>
                <a:spcPct val="102000"/>
              </a:lnSpc>
              <a:buNone/>
            </a:pPr>
            <a:r>
              <a:rPr lang="en-US" sz="1100" b="1" dirty="0">
                <a:solidFill>
                  <a:srgbClr val="0A2540"/>
                </a:solidFill>
                <a:latin typeface="Times New Roman" pitchFamily="34" charset="0"/>
                <a:ea typeface="Times New Roman" pitchFamily="34" charset="-122"/>
                <a:cs typeface="Times New Roman" pitchFamily="34" charset="-120"/>
              </a:rPr>
              <a:t>Segmen-</a:t>
            </a:r>
            <a:endParaRPr lang="en-US" sz="1100" dirty="0"/>
          </a:p>
          <a:p>
            <a:pPr marL="0" indent="0" algn="ctr">
              <a:lnSpc>
                <a:spcPct val="102000"/>
              </a:lnSpc>
              <a:buNone/>
            </a:pPr>
            <a:r>
              <a:rPr lang="en-US" sz="1100" b="1" dirty="0">
                <a:solidFill>
                  <a:srgbClr val="0A2540"/>
                </a:solidFill>
                <a:latin typeface="Times New Roman" pitchFamily="34" charset="0"/>
                <a:ea typeface="Times New Roman" pitchFamily="34" charset="-122"/>
                <a:cs typeface="Times New Roman" pitchFamily="34" charset="-120"/>
              </a:rPr>
              <a:t>tation</a:t>
            </a:r>
            <a:endParaRPr lang="en-US" sz="1100" dirty="0"/>
          </a:p>
        </p:txBody>
      </p:sp>
      <p:sp>
        <p:nvSpPr>
          <p:cNvPr id="23" name="Shape 16"/>
          <p:cNvSpPr/>
          <p:nvPr/>
        </p:nvSpPr>
        <p:spPr>
          <a:xfrm>
            <a:off x="6588252" y="2706624"/>
            <a:ext cx="275336" cy="164592"/>
          </a:xfrm>
          <a:prstGeom prst="rightArrow">
            <a:avLst/>
          </a:prstGeom>
          <a:solidFill>
            <a:srgbClr val="4C606D"/>
          </a:solidFill>
          <a:ln/>
        </p:spPr>
        <p:txBody>
          <a:bodyPr/>
          <a:lstStyle/>
          <a:p>
            <a:endParaRPr lang="en-US"/>
          </a:p>
        </p:txBody>
      </p:sp>
      <p:sp>
        <p:nvSpPr>
          <p:cNvPr id="24" name="Shape 17"/>
          <p:cNvSpPr/>
          <p:nvPr/>
        </p:nvSpPr>
        <p:spPr>
          <a:xfrm>
            <a:off x="6900164" y="2331720"/>
            <a:ext cx="914400" cy="914400"/>
          </a:xfrm>
          <a:prstGeom prst="ellipse">
            <a:avLst/>
          </a:prstGeom>
          <a:solidFill>
            <a:srgbClr val="0B4F8A"/>
          </a:solidFill>
          <a:ln w="25400">
            <a:solidFill>
              <a:srgbClr val="FFFFFF"/>
            </a:solidFill>
            <a:prstDash val="solid"/>
          </a:ln>
        </p:spPr>
        <p:txBody>
          <a:bodyPr/>
          <a:lstStyle/>
          <a:p>
            <a:endParaRPr lang="en-US"/>
          </a:p>
        </p:txBody>
      </p:sp>
      <p:pic>
        <p:nvPicPr>
          <p:cNvPr id="25" name="Image 5" descr="icons/target_white.png"/>
          <p:cNvPicPr>
            <a:picLocks noChangeAspect="1"/>
          </p:cNvPicPr>
          <p:nvPr/>
        </p:nvPicPr>
        <p:blipFill>
          <a:blip r:embed="rId8"/>
          <a:stretch>
            <a:fillRect/>
          </a:stretch>
        </p:blipFill>
        <p:spPr>
          <a:xfrm>
            <a:off x="7083044" y="2514600"/>
            <a:ext cx="548640" cy="548640"/>
          </a:xfrm>
          <a:prstGeom prst="rect">
            <a:avLst/>
          </a:prstGeom>
        </p:spPr>
      </p:pic>
      <p:sp>
        <p:nvSpPr>
          <p:cNvPr id="26" name="Text 18"/>
          <p:cNvSpPr/>
          <p:nvPr/>
        </p:nvSpPr>
        <p:spPr>
          <a:xfrm>
            <a:off x="6753352" y="3374136"/>
            <a:ext cx="1208024" cy="566928"/>
          </a:xfrm>
          <a:prstGeom prst="rect">
            <a:avLst/>
          </a:prstGeom>
          <a:noFill/>
          <a:ln/>
        </p:spPr>
        <p:txBody>
          <a:bodyPr wrap="square" rtlCol="0" anchor="ctr"/>
          <a:lstStyle/>
          <a:p>
            <a:pPr marL="0" indent="0" algn="ctr">
              <a:lnSpc>
                <a:spcPct val="102000"/>
              </a:lnSpc>
              <a:buNone/>
            </a:pPr>
            <a:r>
              <a:rPr lang="en-US" sz="1100" b="1" dirty="0">
                <a:solidFill>
                  <a:srgbClr val="0A2540"/>
                </a:solidFill>
                <a:latin typeface="Times New Roman" pitchFamily="34" charset="0"/>
                <a:ea typeface="Times New Roman" pitchFamily="34" charset="-122"/>
                <a:cs typeface="Times New Roman" pitchFamily="34" charset="-120"/>
              </a:rPr>
              <a:t>Feature</a:t>
            </a:r>
            <a:endParaRPr lang="en-US" sz="1100" dirty="0"/>
          </a:p>
          <a:p>
            <a:pPr marL="0" indent="0" algn="ctr">
              <a:lnSpc>
                <a:spcPct val="102000"/>
              </a:lnSpc>
              <a:buNone/>
            </a:pPr>
            <a:r>
              <a:rPr lang="en-US" sz="1100" b="1" dirty="0">
                <a:solidFill>
                  <a:srgbClr val="0A2540"/>
                </a:solidFill>
                <a:latin typeface="Times New Roman" pitchFamily="34" charset="0"/>
                <a:ea typeface="Times New Roman" pitchFamily="34" charset="-122"/>
                <a:cs typeface="Times New Roman" pitchFamily="34" charset="-120"/>
              </a:rPr>
              <a:t>Extraction</a:t>
            </a:r>
            <a:endParaRPr lang="en-US" sz="1100" dirty="0"/>
          </a:p>
        </p:txBody>
      </p:sp>
      <p:sp>
        <p:nvSpPr>
          <p:cNvPr id="27" name="Shape 19"/>
          <p:cNvSpPr/>
          <p:nvPr/>
        </p:nvSpPr>
        <p:spPr>
          <a:xfrm>
            <a:off x="7851140" y="2706624"/>
            <a:ext cx="275336" cy="164592"/>
          </a:xfrm>
          <a:prstGeom prst="rightArrow">
            <a:avLst/>
          </a:prstGeom>
          <a:solidFill>
            <a:srgbClr val="4C606D"/>
          </a:solidFill>
          <a:ln/>
        </p:spPr>
        <p:txBody>
          <a:bodyPr/>
          <a:lstStyle/>
          <a:p>
            <a:endParaRPr lang="en-US"/>
          </a:p>
        </p:txBody>
      </p:sp>
      <p:sp>
        <p:nvSpPr>
          <p:cNvPr id="28" name="Shape 20"/>
          <p:cNvSpPr/>
          <p:nvPr/>
        </p:nvSpPr>
        <p:spPr>
          <a:xfrm>
            <a:off x="8163052" y="2331720"/>
            <a:ext cx="914400" cy="914400"/>
          </a:xfrm>
          <a:prstGeom prst="ellipse">
            <a:avLst/>
          </a:prstGeom>
          <a:solidFill>
            <a:srgbClr val="0B4F8A"/>
          </a:solidFill>
          <a:ln w="25400">
            <a:solidFill>
              <a:srgbClr val="FFFFFF"/>
            </a:solidFill>
            <a:prstDash val="solid"/>
          </a:ln>
        </p:spPr>
        <p:txBody>
          <a:bodyPr/>
          <a:lstStyle/>
          <a:p>
            <a:endParaRPr lang="en-US"/>
          </a:p>
        </p:txBody>
      </p:sp>
      <p:pic>
        <p:nvPicPr>
          <p:cNvPr id="29" name="Image 6" descr="icons/ai_chip_white.png"/>
          <p:cNvPicPr>
            <a:picLocks noChangeAspect="1"/>
          </p:cNvPicPr>
          <p:nvPr/>
        </p:nvPicPr>
        <p:blipFill>
          <a:blip r:embed="rId9"/>
          <a:stretch>
            <a:fillRect/>
          </a:stretch>
        </p:blipFill>
        <p:spPr>
          <a:xfrm>
            <a:off x="8345932" y="2514600"/>
            <a:ext cx="548640" cy="548640"/>
          </a:xfrm>
          <a:prstGeom prst="rect">
            <a:avLst/>
          </a:prstGeom>
        </p:spPr>
      </p:pic>
      <p:sp>
        <p:nvSpPr>
          <p:cNvPr id="30" name="Text 21"/>
          <p:cNvSpPr/>
          <p:nvPr/>
        </p:nvSpPr>
        <p:spPr>
          <a:xfrm>
            <a:off x="8016240" y="3374136"/>
            <a:ext cx="1208024" cy="566928"/>
          </a:xfrm>
          <a:prstGeom prst="rect">
            <a:avLst/>
          </a:prstGeom>
          <a:noFill/>
          <a:ln/>
        </p:spPr>
        <p:txBody>
          <a:bodyPr wrap="square" rtlCol="0" anchor="ctr"/>
          <a:lstStyle/>
          <a:p>
            <a:pPr marL="0" indent="0" algn="ctr">
              <a:lnSpc>
                <a:spcPct val="102000"/>
              </a:lnSpc>
              <a:buNone/>
            </a:pPr>
            <a:r>
              <a:rPr lang="en-US" sz="1100" b="1" dirty="0">
                <a:solidFill>
                  <a:srgbClr val="0A2540"/>
                </a:solidFill>
                <a:latin typeface="Times New Roman" pitchFamily="34" charset="0"/>
                <a:ea typeface="Times New Roman" pitchFamily="34" charset="-122"/>
                <a:cs typeface="Times New Roman" pitchFamily="34" charset="-120"/>
              </a:rPr>
              <a:t>AI</a:t>
            </a:r>
            <a:endParaRPr lang="en-US" sz="1100" dirty="0"/>
          </a:p>
          <a:p>
            <a:pPr marL="0" indent="0" algn="ctr">
              <a:lnSpc>
                <a:spcPct val="102000"/>
              </a:lnSpc>
              <a:buNone/>
            </a:pPr>
            <a:r>
              <a:rPr lang="en-US" sz="1100" b="1" dirty="0">
                <a:solidFill>
                  <a:srgbClr val="0A2540"/>
                </a:solidFill>
                <a:latin typeface="Times New Roman" pitchFamily="34" charset="0"/>
                <a:ea typeface="Times New Roman" pitchFamily="34" charset="-122"/>
                <a:cs typeface="Times New Roman" pitchFamily="34" charset="-120"/>
              </a:rPr>
              <a:t>Model</a:t>
            </a:r>
            <a:endParaRPr lang="en-US" sz="1100" dirty="0"/>
          </a:p>
        </p:txBody>
      </p:sp>
      <p:sp>
        <p:nvSpPr>
          <p:cNvPr id="31" name="Shape 22"/>
          <p:cNvSpPr/>
          <p:nvPr/>
        </p:nvSpPr>
        <p:spPr>
          <a:xfrm>
            <a:off x="9114028" y="2706624"/>
            <a:ext cx="275336" cy="164592"/>
          </a:xfrm>
          <a:prstGeom prst="rightArrow">
            <a:avLst/>
          </a:prstGeom>
          <a:solidFill>
            <a:srgbClr val="4C606D"/>
          </a:solidFill>
          <a:ln/>
        </p:spPr>
        <p:txBody>
          <a:bodyPr/>
          <a:lstStyle/>
          <a:p>
            <a:endParaRPr lang="en-US"/>
          </a:p>
        </p:txBody>
      </p:sp>
      <p:sp>
        <p:nvSpPr>
          <p:cNvPr id="32" name="Shape 23"/>
          <p:cNvSpPr/>
          <p:nvPr/>
        </p:nvSpPr>
        <p:spPr>
          <a:xfrm>
            <a:off x="9425940" y="2331720"/>
            <a:ext cx="914400" cy="914400"/>
          </a:xfrm>
          <a:prstGeom prst="ellipse">
            <a:avLst/>
          </a:prstGeom>
          <a:solidFill>
            <a:srgbClr val="0B4F8A"/>
          </a:solidFill>
          <a:ln w="25400">
            <a:solidFill>
              <a:srgbClr val="FFFFFF"/>
            </a:solidFill>
            <a:prstDash val="solid"/>
          </a:ln>
        </p:spPr>
        <p:txBody>
          <a:bodyPr/>
          <a:lstStyle/>
          <a:p>
            <a:endParaRPr lang="en-US"/>
          </a:p>
        </p:txBody>
      </p:sp>
      <p:pic>
        <p:nvPicPr>
          <p:cNvPr id="33" name="Image 7" descr="icons/chart_white.png"/>
          <p:cNvPicPr>
            <a:picLocks noChangeAspect="1"/>
          </p:cNvPicPr>
          <p:nvPr/>
        </p:nvPicPr>
        <p:blipFill>
          <a:blip r:embed="rId10"/>
          <a:stretch>
            <a:fillRect/>
          </a:stretch>
        </p:blipFill>
        <p:spPr>
          <a:xfrm>
            <a:off x="9608820" y="2514600"/>
            <a:ext cx="548640" cy="548640"/>
          </a:xfrm>
          <a:prstGeom prst="rect">
            <a:avLst/>
          </a:prstGeom>
        </p:spPr>
      </p:pic>
      <p:sp>
        <p:nvSpPr>
          <p:cNvPr id="34" name="Text 24"/>
          <p:cNvSpPr/>
          <p:nvPr/>
        </p:nvSpPr>
        <p:spPr>
          <a:xfrm>
            <a:off x="9279128" y="3374136"/>
            <a:ext cx="1208024" cy="566928"/>
          </a:xfrm>
          <a:prstGeom prst="rect">
            <a:avLst/>
          </a:prstGeom>
          <a:noFill/>
          <a:ln/>
        </p:spPr>
        <p:txBody>
          <a:bodyPr wrap="square" rtlCol="0" anchor="ctr"/>
          <a:lstStyle/>
          <a:p>
            <a:pPr marL="0" indent="0" algn="ctr">
              <a:lnSpc>
                <a:spcPct val="102000"/>
              </a:lnSpc>
              <a:buNone/>
            </a:pPr>
            <a:r>
              <a:rPr lang="en-US" sz="1100" b="1" dirty="0">
                <a:solidFill>
                  <a:srgbClr val="0A2540"/>
                </a:solidFill>
                <a:latin typeface="Times New Roman" pitchFamily="34" charset="0"/>
                <a:ea typeface="Times New Roman" pitchFamily="34" charset="-122"/>
                <a:cs typeface="Times New Roman" pitchFamily="34" charset="-120"/>
              </a:rPr>
              <a:t>Disease</a:t>
            </a:r>
            <a:endParaRPr lang="en-US" sz="1100" dirty="0"/>
          </a:p>
          <a:p>
            <a:pPr marL="0" indent="0" algn="ctr">
              <a:lnSpc>
                <a:spcPct val="102000"/>
              </a:lnSpc>
              <a:buNone/>
            </a:pPr>
            <a:r>
              <a:rPr lang="en-US" sz="1100" b="1" dirty="0">
                <a:solidFill>
                  <a:srgbClr val="0A2540"/>
                </a:solidFill>
                <a:latin typeface="Times New Roman" pitchFamily="34" charset="0"/>
                <a:ea typeface="Times New Roman" pitchFamily="34" charset="-122"/>
                <a:cs typeface="Times New Roman" pitchFamily="34" charset="-120"/>
              </a:rPr>
              <a:t>Prediction</a:t>
            </a:r>
            <a:endParaRPr lang="en-US" sz="1100" dirty="0"/>
          </a:p>
        </p:txBody>
      </p:sp>
      <p:sp>
        <p:nvSpPr>
          <p:cNvPr id="35" name="Shape 25"/>
          <p:cNvSpPr/>
          <p:nvPr/>
        </p:nvSpPr>
        <p:spPr>
          <a:xfrm>
            <a:off x="10376916" y="2706624"/>
            <a:ext cx="275336" cy="164592"/>
          </a:xfrm>
          <a:prstGeom prst="rightArrow">
            <a:avLst/>
          </a:prstGeom>
          <a:solidFill>
            <a:srgbClr val="4C606D"/>
          </a:solidFill>
          <a:ln/>
        </p:spPr>
        <p:txBody>
          <a:bodyPr/>
          <a:lstStyle/>
          <a:p>
            <a:endParaRPr lang="en-US"/>
          </a:p>
        </p:txBody>
      </p:sp>
      <p:sp>
        <p:nvSpPr>
          <p:cNvPr id="36" name="Shape 26"/>
          <p:cNvSpPr/>
          <p:nvPr/>
        </p:nvSpPr>
        <p:spPr>
          <a:xfrm>
            <a:off x="10688828" y="2331720"/>
            <a:ext cx="914400" cy="914400"/>
          </a:xfrm>
          <a:prstGeom prst="ellipse">
            <a:avLst/>
          </a:prstGeom>
          <a:solidFill>
            <a:srgbClr val="2FB8A6"/>
          </a:solidFill>
          <a:ln w="25400">
            <a:solidFill>
              <a:srgbClr val="FFFFFF"/>
            </a:solidFill>
            <a:prstDash val="solid"/>
          </a:ln>
        </p:spPr>
        <p:txBody>
          <a:bodyPr/>
          <a:lstStyle/>
          <a:p>
            <a:endParaRPr lang="en-US"/>
          </a:p>
        </p:txBody>
      </p:sp>
      <p:pic>
        <p:nvPicPr>
          <p:cNvPr id="37" name="Image 8" descr="icons/report_white.png"/>
          <p:cNvPicPr>
            <a:picLocks noChangeAspect="1"/>
          </p:cNvPicPr>
          <p:nvPr/>
        </p:nvPicPr>
        <p:blipFill>
          <a:blip r:embed="rId11"/>
          <a:stretch>
            <a:fillRect/>
          </a:stretch>
        </p:blipFill>
        <p:spPr>
          <a:xfrm>
            <a:off x="10871708" y="2514600"/>
            <a:ext cx="548640" cy="548640"/>
          </a:xfrm>
          <a:prstGeom prst="rect">
            <a:avLst/>
          </a:prstGeom>
        </p:spPr>
      </p:pic>
      <p:sp>
        <p:nvSpPr>
          <p:cNvPr id="38" name="Text 27"/>
          <p:cNvSpPr/>
          <p:nvPr/>
        </p:nvSpPr>
        <p:spPr>
          <a:xfrm>
            <a:off x="10542016" y="3374136"/>
            <a:ext cx="1208024" cy="566928"/>
          </a:xfrm>
          <a:prstGeom prst="rect">
            <a:avLst/>
          </a:prstGeom>
          <a:noFill/>
          <a:ln/>
        </p:spPr>
        <p:txBody>
          <a:bodyPr wrap="square" rtlCol="0" anchor="ctr"/>
          <a:lstStyle/>
          <a:p>
            <a:pPr marL="0" indent="0" algn="ctr">
              <a:lnSpc>
                <a:spcPct val="102000"/>
              </a:lnSpc>
              <a:buNone/>
            </a:pPr>
            <a:r>
              <a:rPr lang="en-US" sz="1100" b="1" dirty="0">
                <a:solidFill>
                  <a:srgbClr val="0A2540"/>
                </a:solidFill>
                <a:latin typeface="Times New Roman" pitchFamily="34" charset="0"/>
                <a:ea typeface="Times New Roman" pitchFamily="34" charset="-122"/>
                <a:cs typeface="Times New Roman" pitchFamily="34" charset="-120"/>
              </a:rPr>
              <a:t>Doctor's</a:t>
            </a:r>
            <a:endParaRPr lang="en-US" sz="1100" dirty="0"/>
          </a:p>
          <a:p>
            <a:pPr marL="0" indent="0" algn="ctr">
              <a:lnSpc>
                <a:spcPct val="102000"/>
              </a:lnSpc>
              <a:buNone/>
            </a:pPr>
            <a:r>
              <a:rPr lang="en-US" sz="1100" b="1" dirty="0">
                <a:solidFill>
                  <a:srgbClr val="0A2540"/>
                </a:solidFill>
                <a:latin typeface="Times New Roman" pitchFamily="34" charset="0"/>
                <a:ea typeface="Times New Roman" pitchFamily="34" charset="-122"/>
                <a:cs typeface="Times New Roman" pitchFamily="34" charset="-120"/>
              </a:rPr>
              <a:t>Report</a:t>
            </a:r>
            <a:endParaRPr lang="en-US" sz="1100" dirty="0"/>
          </a:p>
        </p:txBody>
      </p:sp>
      <p:sp>
        <p:nvSpPr>
          <p:cNvPr id="39" name="Shape 28"/>
          <p:cNvSpPr/>
          <p:nvPr/>
        </p:nvSpPr>
        <p:spPr>
          <a:xfrm>
            <a:off x="475488" y="4023360"/>
            <a:ext cx="3660648" cy="493776"/>
          </a:xfrm>
          <a:prstGeom prst="roundRect">
            <a:avLst>
              <a:gd name="adj" fmla="val 14815"/>
            </a:avLst>
          </a:prstGeom>
          <a:solidFill>
            <a:srgbClr val="0B4F8A"/>
          </a:solidFill>
          <a:ln/>
        </p:spPr>
        <p:txBody>
          <a:bodyPr/>
          <a:lstStyle/>
          <a:p>
            <a:endParaRPr lang="en-US"/>
          </a:p>
        </p:txBody>
      </p:sp>
      <p:sp>
        <p:nvSpPr>
          <p:cNvPr id="40" name="Text 29"/>
          <p:cNvSpPr/>
          <p:nvPr/>
        </p:nvSpPr>
        <p:spPr>
          <a:xfrm>
            <a:off x="475488" y="4023360"/>
            <a:ext cx="3660648" cy="493776"/>
          </a:xfrm>
          <a:prstGeom prst="rect">
            <a:avLst/>
          </a:prstGeom>
          <a:noFill/>
          <a:ln/>
        </p:spPr>
        <p:txBody>
          <a:bodyPr wrap="square" rtlCol="0" anchor="ctr"/>
          <a:lstStyle/>
          <a:p>
            <a:pPr marL="0" indent="0" algn="ctr">
              <a:buNone/>
            </a:pPr>
            <a:r>
              <a:rPr lang="en-US" sz="1150" b="1" kern="0" spc="50" dirty="0">
                <a:solidFill>
                  <a:srgbClr val="FFFFFF"/>
                </a:solidFill>
                <a:latin typeface="Times New Roman" pitchFamily="34" charset="0"/>
                <a:ea typeface="Times New Roman" pitchFamily="34" charset="-122"/>
                <a:cs typeface="Times New Roman" pitchFamily="34" charset="-120"/>
              </a:rPr>
              <a:t>DATA ACQUISITION</a:t>
            </a:r>
            <a:endParaRPr lang="en-US" sz="1150" dirty="0"/>
          </a:p>
        </p:txBody>
      </p:sp>
      <p:sp>
        <p:nvSpPr>
          <p:cNvPr id="41" name="Shape 30"/>
          <p:cNvSpPr/>
          <p:nvPr/>
        </p:nvSpPr>
        <p:spPr>
          <a:xfrm>
            <a:off x="4264152" y="4023360"/>
            <a:ext cx="3660648" cy="493776"/>
          </a:xfrm>
          <a:prstGeom prst="roundRect">
            <a:avLst>
              <a:gd name="adj" fmla="val 14815"/>
            </a:avLst>
          </a:prstGeom>
          <a:solidFill>
            <a:srgbClr val="123A5C"/>
          </a:solidFill>
          <a:ln/>
        </p:spPr>
        <p:txBody>
          <a:bodyPr/>
          <a:lstStyle/>
          <a:p>
            <a:endParaRPr lang="en-US"/>
          </a:p>
        </p:txBody>
      </p:sp>
      <p:sp>
        <p:nvSpPr>
          <p:cNvPr id="42" name="Text 31"/>
          <p:cNvSpPr/>
          <p:nvPr/>
        </p:nvSpPr>
        <p:spPr>
          <a:xfrm>
            <a:off x="4264152" y="4023360"/>
            <a:ext cx="3660648" cy="493776"/>
          </a:xfrm>
          <a:prstGeom prst="rect">
            <a:avLst/>
          </a:prstGeom>
          <a:noFill/>
          <a:ln/>
        </p:spPr>
        <p:txBody>
          <a:bodyPr wrap="square" rtlCol="0" anchor="ctr"/>
          <a:lstStyle/>
          <a:p>
            <a:pPr marL="0" indent="0" algn="ctr">
              <a:buNone/>
            </a:pPr>
            <a:r>
              <a:rPr lang="en-US" sz="1150" b="1" kern="0" spc="50" dirty="0">
                <a:solidFill>
                  <a:srgbClr val="FFFFFF"/>
                </a:solidFill>
                <a:latin typeface="Times New Roman" pitchFamily="34" charset="0"/>
                <a:ea typeface="Times New Roman" pitchFamily="34" charset="-122"/>
                <a:cs typeface="Times New Roman" pitchFamily="34" charset="-120"/>
              </a:rPr>
              <a:t>COMPUTER VISION PROCESSING</a:t>
            </a:r>
            <a:endParaRPr lang="en-US" sz="1150" dirty="0"/>
          </a:p>
        </p:txBody>
      </p:sp>
      <p:sp>
        <p:nvSpPr>
          <p:cNvPr id="43" name="Shape 32"/>
          <p:cNvSpPr/>
          <p:nvPr/>
        </p:nvSpPr>
        <p:spPr>
          <a:xfrm>
            <a:off x="8052816" y="4023360"/>
            <a:ext cx="3660648" cy="493776"/>
          </a:xfrm>
          <a:prstGeom prst="roundRect">
            <a:avLst>
              <a:gd name="adj" fmla="val 14815"/>
            </a:avLst>
          </a:prstGeom>
          <a:solidFill>
            <a:srgbClr val="2FB8A6"/>
          </a:solidFill>
          <a:ln/>
        </p:spPr>
        <p:txBody>
          <a:bodyPr/>
          <a:lstStyle/>
          <a:p>
            <a:endParaRPr lang="en-US"/>
          </a:p>
        </p:txBody>
      </p:sp>
      <p:sp>
        <p:nvSpPr>
          <p:cNvPr id="44" name="Text 33"/>
          <p:cNvSpPr/>
          <p:nvPr/>
        </p:nvSpPr>
        <p:spPr>
          <a:xfrm>
            <a:off x="8052816" y="4023360"/>
            <a:ext cx="3660648" cy="493776"/>
          </a:xfrm>
          <a:prstGeom prst="rect">
            <a:avLst/>
          </a:prstGeom>
          <a:noFill/>
          <a:ln/>
        </p:spPr>
        <p:txBody>
          <a:bodyPr wrap="square" rtlCol="0" anchor="ctr"/>
          <a:lstStyle/>
          <a:p>
            <a:pPr marL="0" indent="0" algn="ctr">
              <a:buNone/>
            </a:pPr>
            <a:r>
              <a:rPr lang="en-US" sz="1150" b="1" kern="0" spc="50" dirty="0">
                <a:solidFill>
                  <a:srgbClr val="FFFFFF"/>
                </a:solidFill>
                <a:latin typeface="Times New Roman" pitchFamily="34" charset="0"/>
                <a:ea typeface="Times New Roman" pitchFamily="34" charset="-122"/>
                <a:cs typeface="Times New Roman" pitchFamily="34" charset="-120"/>
              </a:rPr>
              <a:t>AI DECISION SUPPORT</a:t>
            </a:r>
            <a:endParaRPr lang="en-US" sz="1150" dirty="0"/>
          </a:p>
        </p:txBody>
      </p:sp>
      <p:sp>
        <p:nvSpPr>
          <p:cNvPr id="45" name="Shape 34"/>
          <p:cNvSpPr/>
          <p:nvPr/>
        </p:nvSpPr>
        <p:spPr>
          <a:xfrm>
            <a:off x="548640" y="4828032"/>
            <a:ext cx="11091672" cy="1572768"/>
          </a:xfrm>
          <a:prstGeom prst="roundRect">
            <a:avLst>
              <a:gd name="adj" fmla="val 5233"/>
            </a:avLst>
          </a:prstGeom>
          <a:solidFill>
            <a:srgbClr val="E7EFF5"/>
          </a:solidFill>
          <a:ln w="12700">
            <a:solidFill>
              <a:srgbClr val="D7E1E8"/>
            </a:solidFill>
            <a:prstDash val="solid"/>
          </a:ln>
        </p:spPr>
        <p:txBody>
          <a:bodyPr/>
          <a:lstStyle/>
          <a:p>
            <a:endParaRPr lang="en-US"/>
          </a:p>
        </p:txBody>
      </p:sp>
      <p:sp>
        <p:nvSpPr>
          <p:cNvPr id="46" name="Text 35"/>
          <p:cNvSpPr/>
          <p:nvPr/>
        </p:nvSpPr>
        <p:spPr>
          <a:xfrm>
            <a:off x="822960" y="4974336"/>
            <a:ext cx="4572000" cy="329184"/>
          </a:xfrm>
          <a:prstGeom prst="rect">
            <a:avLst/>
          </a:prstGeom>
          <a:noFill/>
          <a:ln/>
        </p:spPr>
        <p:txBody>
          <a:bodyPr wrap="square" rtlCol="0" anchor="ctr"/>
          <a:lstStyle/>
          <a:p>
            <a:pPr marL="0" indent="0">
              <a:buNone/>
            </a:pPr>
            <a:r>
              <a:rPr lang="en-US" sz="1500" b="1" dirty="0">
                <a:solidFill>
                  <a:srgbClr val="0A2540"/>
                </a:solidFill>
                <a:latin typeface="Times New Roman" pitchFamily="34" charset="0"/>
                <a:ea typeface="Times New Roman" pitchFamily="34" charset="-122"/>
                <a:cs typeface="Times New Roman" pitchFamily="34" charset="-120"/>
              </a:rPr>
              <a:t>How it works, end to end</a:t>
            </a:r>
            <a:endParaRPr lang="en-US" sz="1500" dirty="0"/>
          </a:p>
        </p:txBody>
      </p:sp>
      <p:sp>
        <p:nvSpPr>
          <p:cNvPr id="47" name="Text 36"/>
          <p:cNvSpPr/>
          <p:nvPr/>
        </p:nvSpPr>
        <p:spPr>
          <a:xfrm>
            <a:off x="822960" y="5321808"/>
            <a:ext cx="10543032" cy="1005840"/>
          </a:xfrm>
          <a:prstGeom prst="rect">
            <a:avLst/>
          </a:prstGeom>
          <a:noFill/>
          <a:ln/>
        </p:spPr>
        <p:txBody>
          <a:bodyPr wrap="square" rtlCol="0" anchor="ctr"/>
          <a:lstStyle/>
          <a:p>
            <a:pPr marL="0" indent="0">
              <a:lnSpc>
                <a:spcPct val="125000"/>
              </a:lnSpc>
              <a:buNone/>
            </a:pPr>
            <a:r>
              <a:rPr lang="en-US" sz="1250" dirty="0">
                <a:solidFill>
                  <a:srgbClr val="374856"/>
                </a:solidFill>
                <a:latin typeface="Times New Roman" pitchFamily="34" charset="0"/>
                <a:ea typeface="Times New Roman" pitchFamily="34" charset="-122"/>
                <a:cs typeface="Times New Roman" pitchFamily="34" charset="-120"/>
              </a:rPr>
              <a:t>The patient is scanned by the MRI machine, producing a raw MRI image. Computer vision stages — preprocessing, segmentation, and feature extraction — clean and structure the image data. A trained AI model then analyzes these features to predict the presence and type of disease. The result is compiled into a report the doctor reviews to confirm diagnosis and plan treatment.</a:t>
            </a:r>
            <a:endParaRPr lang="en-US" sz="1250" dirty="0"/>
          </a:p>
        </p:txBody>
      </p:sp>
      <p:sp>
        <p:nvSpPr>
          <p:cNvPr id="48" name="Text 37"/>
          <p:cNvSpPr/>
          <p:nvPr/>
        </p:nvSpPr>
        <p:spPr>
          <a:xfrm>
            <a:off x="457200" y="6492240"/>
            <a:ext cx="6400800" cy="292608"/>
          </a:xfrm>
          <a:prstGeom prst="rect">
            <a:avLst/>
          </a:prstGeom>
          <a:noFill/>
          <a:ln/>
        </p:spPr>
        <p:txBody>
          <a:bodyPr wrap="square" rtlCol="0" anchor="ctr"/>
          <a:lstStyle/>
          <a:p>
            <a:pPr marL="0" indent="0" algn="l">
              <a:buNone/>
            </a:pPr>
            <a:r>
              <a:rPr lang="en-US" sz="1050" dirty="0">
                <a:solidFill>
                  <a:srgbClr val="4C606D"/>
                </a:solidFill>
                <a:latin typeface="Times New Roman" pitchFamily="34" charset="0"/>
                <a:ea typeface="Times New Roman" pitchFamily="34" charset="-122"/>
                <a:cs typeface="Times New Roman" pitchFamily="34" charset="-120"/>
              </a:rPr>
              <a:t>Medical AI System for MRI Image Analysis</a:t>
            </a:r>
            <a:endParaRPr lang="en-US" sz="1050" dirty="0"/>
          </a:p>
        </p:txBody>
      </p:sp>
      <p:sp>
        <p:nvSpPr>
          <p:cNvPr id="49" name="Text 38"/>
          <p:cNvSpPr/>
          <p:nvPr/>
        </p:nvSpPr>
        <p:spPr>
          <a:xfrm>
            <a:off x="11274552" y="6492240"/>
            <a:ext cx="457200" cy="292608"/>
          </a:xfrm>
          <a:prstGeom prst="rect">
            <a:avLst/>
          </a:prstGeom>
          <a:noFill/>
          <a:ln/>
        </p:spPr>
        <p:txBody>
          <a:bodyPr wrap="square" rtlCol="0" anchor="ctr"/>
          <a:lstStyle/>
          <a:p>
            <a:pPr marL="0" indent="0" algn="r">
              <a:buNone/>
            </a:pPr>
            <a:r>
              <a:rPr lang="en-US" sz="1050" dirty="0">
                <a:solidFill>
                  <a:srgbClr val="4C606D"/>
                </a:solidFill>
                <a:latin typeface="Times New Roman" pitchFamily="34" charset="0"/>
                <a:ea typeface="Times New Roman" pitchFamily="34" charset="-122"/>
                <a:cs typeface="Times New Roman" pitchFamily="34" charset="-120"/>
              </a:rPr>
              <a:t>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7EFF5"/>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566928"/>
          </a:xfrm>
          <a:prstGeom prst="rect">
            <a:avLst/>
          </a:prstGeom>
          <a:noFill/>
          <a:ln/>
        </p:spPr>
        <p:txBody>
          <a:bodyPr wrap="square" rtlCol="0" anchor="ctr"/>
          <a:lstStyle/>
          <a:p>
            <a:pPr marL="0" indent="0">
              <a:buNone/>
            </a:pPr>
            <a:r>
              <a:rPr lang="en-US" sz="3200" b="1" dirty="0">
                <a:solidFill>
                  <a:srgbClr val="0A2540"/>
                </a:solidFill>
                <a:latin typeface="Times New Roman" pitchFamily="34" charset="0"/>
                <a:ea typeface="Times New Roman" pitchFamily="34" charset="-122"/>
                <a:cs typeface="Times New Roman" pitchFamily="34" charset="-120"/>
              </a:rPr>
              <a:t>Advantages &amp; Challenges</a:t>
            </a:r>
            <a:endParaRPr lang="en-US" sz="3200" dirty="0"/>
          </a:p>
        </p:txBody>
      </p:sp>
      <p:sp>
        <p:nvSpPr>
          <p:cNvPr id="3" name="Text 1"/>
          <p:cNvSpPr/>
          <p:nvPr/>
        </p:nvSpPr>
        <p:spPr>
          <a:xfrm>
            <a:off x="548640" y="896112"/>
            <a:ext cx="8686800" cy="329184"/>
          </a:xfrm>
          <a:prstGeom prst="rect">
            <a:avLst/>
          </a:prstGeom>
          <a:noFill/>
          <a:ln/>
        </p:spPr>
        <p:txBody>
          <a:bodyPr wrap="square" rtlCol="0" anchor="ctr"/>
          <a:lstStyle/>
          <a:p>
            <a:pPr marL="0" indent="0">
              <a:buNone/>
            </a:pPr>
            <a:r>
              <a:rPr lang="en-US" sz="1400" i="1" dirty="0">
                <a:solidFill>
                  <a:srgbClr val="374856"/>
                </a:solidFill>
                <a:latin typeface="Times New Roman" pitchFamily="34" charset="0"/>
                <a:ea typeface="Times New Roman" pitchFamily="34" charset="-122"/>
                <a:cs typeface="Times New Roman" pitchFamily="34" charset="-120"/>
              </a:rPr>
              <a:t>Balancing the benefits of Medical AI against real-world constraints</a:t>
            </a:r>
            <a:endParaRPr lang="en-US" sz="1400" dirty="0"/>
          </a:p>
        </p:txBody>
      </p:sp>
      <p:sp>
        <p:nvSpPr>
          <p:cNvPr id="4" name="Shape 2"/>
          <p:cNvSpPr/>
          <p:nvPr/>
        </p:nvSpPr>
        <p:spPr>
          <a:xfrm>
            <a:off x="548640" y="1371600"/>
            <a:ext cx="5362956" cy="5074920"/>
          </a:xfrm>
          <a:prstGeom prst="roundRect">
            <a:avLst>
              <a:gd name="adj" fmla="val 1802"/>
            </a:avLst>
          </a:prstGeom>
          <a:solidFill>
            <a:srgbClr val="FFFFFF"/>
          </a:solidFill>
          <a:ln w="12700">
            <a:solidFill>
              <a:srgbClr val="D7E1E8"/>
            </a:solidFill>
            <a:prstDash val="solid"/>
          </a:ln>
        </p:spPr>
        <p:txBody>
          <a:bodyPr/>
          <a:lstStyle/>
          <a:p>
            <a:endParaRPr lang="en-US"/>
          </a:p>
        </p:txBody>
      </p:sp>
      <p:sp>
        <p:nvSpPr>
          <p:cNvPr id="5" name="Shape 3"/>
          <p:cNvSpPr/>
          <p:nvPr/>
        </p:nvSpPr>
        <p:spPr>
          <a:xfrm>
            <a:off x="548640" y="1371600"/>
            <a:ext cx="5362956" cy="731520"/>
          </a:xfrm>
          <a:prstGeom prst="roundRect">
            <a:avLst>
              <a:gd name="adj" fmla="val 12500"/>
            </a:avLst>
          </a:prstGeom>
          <a:solidFill>
            <a:srgbClr val="0B4F8A"/>
          </a:solidFill>
          <a:ln/>
        </p:spPr>
        <p:txBody>
          <a:bodyPr/>
          <a:lstStyle/>
          <a:p>
            <a:endParaRPr lang="en-US"/>
          </a:p>
        </p:txBody>
      </p:sp>
      <p:sp>
        <p:nvSpPr>
          <p:cNvPr id="6" name="Shape 4"/>
          <p:cNvSpPr/>
          <p:nvPr/>
        </p:nvSpPr>
        <p:spPr>
          <a:xfrm>
            <a:off x="548640" y="1755648"/>
            <a:ext cx="5362956" cy="347472"/>
          </a:xfrm>
          <a:prstGeom prst="rect">
            <a:avLst/>
          </a:prstGeom>
          <a:solidFill>
            <a:srgbClr val="0B4F8A"/>
          </a:solidFill>
          <a:ln/>
        </p:spPr>
        <p:txBody>
          <a:bodyPr/>
          <a:lstStyle/>
          <a:p>
            <a:endParaRPr lang="en-US"/>
          </a:p>
        </p:txBody>
      </p:sp>
      <p:sp>
        <p:nvSpPr>
          <p:cNvPr id="7" name="Shape 5"/>
          <p:cNvSpPr/>
          <p:nvPr/>
        </p:nvSpPr>
        <p:spPr>
          <a:xfrm>
            <a:off x="749808" y="1499616"/>
            <a:ext cx="475488" cy="475488"/>
          </a:xfrm>
          <a:prstGeom prst="ellipse">
            <a:avLst/>
          </a:prstGeom>
          <a:solidFill>
            <a:srgbClr val="FFFFFF"/>
          </a:solidFill>
          <a:ln/>
        </p:spPr>
        <p:txBody>
          <a:bodyPr/>
          <a:lstStyle/>
          <a:p>
            <a:endParaRPr lang="en-US"/>
          </a:p>
        </p:txBody>
      </p:sp>
      <p:pic>
        <p:nvPicPr>
          <p:cNvPr id="8" name="Image 0" descr="icons/check_blue.png"/>
          <p:cNvPicPr>
            <a:picLocks noChangeAspect="1"/>
          </p:cNvPicPr>
          <p:nvPr/>
        </p:nvPicPr>
        <p:blipFill>
          <a:blip r:embed="rId3"/>
          <a:stretch>
            <a:fillRect/>
          </a:stretch>
        </p:blipFill>
        <p:spPr>
          <a:xfrm>
            <a:off x="838708" y="1581912"/>
            <a:ext cx="297688" cy="297688"/>
          </a:xfrm>
          <a:prstGeom prst="rect">
            <a:avLst/>
          </a:prstGeom>
        </p:spPr>
      </p:pic>
      <p:sp>
        <p:nvSpPr>
          <p:cNvPr id="9" name="Text 6"/>
          <p:cNvSpPr/>
          <p:nvPr/>
        </p:nvSpPr>
        <p:spPr>
          <a:xfrm>
            <a:off x="1353312" y="1371600"/>
            <a:ext cx="4448556" cy="731520"/>
          </a:xfrm>
          <a:prstGeom prst="rect">
            <a:avLst/>
          </a:prstGeom>
          <a:noFill/>
          <a:ln/>
        </p:spPr>
        <p:txBody>
          <a:bodyPr wrap="square" rtlCol="0" anchor="ctr"/>
          <a:lstStyle/>
          <a:p>
            <a:pPr marL="0" indent="0">
              <a:buNone/>
            </a:pPr>
            <a:r>
              <a:rPr lang="en-US" sz="1800" b="1" dirty="0">
                <a:solidFill>
                  <a:srgbClr val="FFFFFF"/>
                </a:solidFill>
                <a:latin typeface="Times New Roman" pitchFamily="34" charset="0"/>
                <a:ea typeface="Times New Roman" pitchFamily="34" charset="-122"/>
                <a:cs typeface="Times New Roman" pitchFamily="34" charset="-120"/>
              </a:rPr>
              <a:t>Advantages</a:t>
            </a:r>
            <a:endParaRPr lang="en-US" sz="1800" dirty="0"/>
          </a:p>
        </p:txBody>
      </p:sp>
      <p:sp>
        <p:nvSpPr>
          <p:cNvPr id="10" name="Shape 7"/>
          <p:cNvSpPr/>
          <p:nvPr/>
        </p:nvSpPr>
        <p:spPr>
          <a:xfrm>
            <a:off x="804672" y="2331720"/>
            <a:ext cx="475488" cy="475488"/>
          </a:xfrm>
          <a:prstGeom prst="ellipse">
            <a:avLst/>
          </a:prstGeom>
          <a:solidFill>
            <a:srgbClr val="0B4F8A"/>
          </a:solidFill>
          <a:ln/>
        </p:spPr>
        <p:txBody>
          <a:bodyPr/>
          <a:lstStyle/>
          <a:p>
            <a:endParaRPr lang="en-US"/>
          </a:p>
        </p:txBody>
      </p:sp>
      <p:pic>
        <p:nvPicPr>
          <p:cNvPr id="11" name="Image 1" descr="icons/clock_white.png"/>
          <p:cNvPicPr>
            <a:picLocks noChangeAspect="1"/>
          </p:cNvPicPr>
          <p:nvPr/>
        </p:nvPicPr>
        <p:blipFill>
          <a:blip r:embed="rId4"/>
          <a:stretch>
            <a:fillRect/>
          </a:stretch>
        </p:blipFill>
        <p:spPr>
          <a:xfrm>
            <a:off x="905256" y="2450592"/>
            <a:ext cx="274320" cy="274320"/>
          </a:xfrm>
          <a:prstGeom prst="rect">
            <a:avLst/>
          </a:prstGeom>
        </p:spPr>
      </p:pic>
      <p:sp>
        <p:nvSpPr>
          <p:cNvPr id="12" name="Text 8"/>
          <p:cNvSpPr/>
          <p:nvPr/>
        </p:nvSpPr>
        <p:spPr>
          <a:xfrm>
            <a:off x="1426464" y="2295144"/>
            <a:ext cx="4247388" cy="292608"/>
          </a:xfrm>
          <a:prstGeom prst="rect">
            <a:avLst/>
          </a:prstGeom>
          <a:noFill/>
          <a:ln/>
        </p:spPr>
        <p:txBody>
          <a:bodyPr wrap="square" rtlCol="0" anchor="ctr"/>
          <a:lstStyle/>
          <a:p>
            <a:pPr marL="0" indent="0">
              <a:buNone/>
            </a:pPr>
            <a:r>
              <a:rPr lang="en-US" sz="1350" b="1" dirty="0">
                <a:solidFill>
                  <a:srgbClr val="0A2540"/>
                </a:solidFill>
                <a:latin typeface="Times New Roman" pitchFamily="34" charset="0"/>
                <a:ea typeface="Times New Roman" pitchFamily="34" charset="-122"/>
                <a:cs typeface="Times New Roman" pitchFamily="34" charset="-120"/>
              </a:rPr>
              <a:t>Faster Diagnosis</a:t>
            </a:r>
            <a:endParaRPr lang="en-US" sz="1350" dirty="0"/>
          </a:p>
        </p:txBody>
      </p:sp>
      <p:sp>
        <p:nvSpPr>
          <p:cNvPr id="13" name="Text 9"/>
          <p:cNvSpPr/>
          <p:nvPr/>
        </p:nvSpPr>
        <p:spPr>
          <a:xfrm>
            <a:off x="1426464" y="2587752"/>
            <a:ext cx="4247388" cy="530352"/>
          </a:xfrm>
          <a:prstGeom prst="rect">
            <a:avLst/>
          </a:prstGeom>
          <a:noFill/>
          <a:ln/>
        </p:spPr>
        <p:txBody>
          <a:bodyPr wrap="square" rtlCol="0" anchor="ctr"/>
          <a:lstStyle/>
          <a:p>
            <a:pPr marL="0" indent="0">
              <a:lnSpc>
                <a:spcPct val="112000"/>
              </a:lnSpc>
              <a:buNone/>
            </a:pPr>
            <a:r>
              <a:rPr lang="en-US" sz="1150" dirty="0">
                <a:solidFill>
                  <a:srgbClr val="374856"/>
                </a:solidFill>
                <a:latin typeface="Times New Roman" pitchFamily="34" charset="0"/>
                <a:ea typeface="Times New Roman" pitchFamily="34" charset="-122"/>
                <a:cs typeface="Times New Roman" pitchFamily="34" charset="-120"/>
              </a:rPr>
              <a:t>Reduces the time needed to analyze complex scans.</a:t>
            </a:r>
            <a:endParaRPr lang="en-US" sz="1150" dirty="0"/>
          </a:p>
        </p:txBody>
      </p:sp>
      <p:sp>
        <p:nvSpPr>
          <p:cNvPr id="14" name="Shape 10"/>
          <p:cNvSpPr/>
          <p:nvPr/>
        </p:nvSpPr>
        <p:spPr>
          <a:xfrm>
            <a:off x="804672" y="3154680"/>
            <a:ext cx="475488" cy="475488"/>
          </a:xfrm>
          <a:prstGeom prst="ellipse">
            <a:avLst/>
          </a:prstGeom>
          <a:solidFill>
            <a:srgbClr val="0B4F8A"/>
          </a:solidFill>
          <a:ln/>
        </p:spPr>
        <p:txBody>
          <a:bodyPr/>
          <a:lstStyle/>
          <a:p>
            <a:endParaRPr lang="en-US"/>
          </a:p>
        </p:txBody>
      </p:sp>
      <p:pic>
        <p:nvPicPr>
          <p:cNvPr id="15" name="Image 2" descr="icons/target_white.png"/>
          <p:cNvPicPr>
            <a:picLocks noChangeAspect="1"/>
          </p:cNvPicPr>
          <p:nvPr/>
        </p:nvPicPr>
        <p:blipFill>
          <a:blip r:embed="rId5"/>
          <a:stretch>
            <a:fillRect/>
          </a:stretch>
        </p:blipFill>
        <p:spPr>
          <a:xfrm>
            <a:off x="932688" y="3279648"/>
            <a:ext cx="237744" cy="237744"/>
          </a:xfrm>
          <a:prstGeom prst="rect">
            <a:avLst/>
          </a:prstGeom>
        </p:spPr>
      </p:pic>
      <p:sp>
        <p:nvSpPr>
          <p:cNvPr id="16" name="Text 11"/>
          <p:cNvSpPr/>
          <p:nvPr/>
        </p:nvSpPr>
        <p:spPr>
          <a:xfrm>
            <a:off x="1426464" y="3118104"/>
            <a:ext cx="4247388" cy="292608"/>
          </a:xfrm>
          <a:prstGeom prst="rect">
            <a:avLst/>
          </a:prstGeom>
          <a:noFill/>
          <a:ln/>
        </p:spPr>
        <p:txBody>
          <a:bodyPr wrap="square" rtlCol="0" anchor="ctr"/>
          <a:lstStyle/>
          <a:p>
            <a:pPr marL="0" indent="0">
              <a:buNone/>
            </a:pPr>
            <a:r>
              <a:rPr lang="en-US" sz="1350" b="1" dirty="0">
                <a:solidFill>
                  <a:srgbClr val="0A2540"/>
                </a:solidFill>
                <a:latin typeface="Times New Roman" pitchFamily="34" charset="0"/>
                <a:ea typeface="Times New Roman" pitchFamily="34" charset="-122"/>
                <a:cs typeface="Times New Roman" pitchFamily="34" charset="-120"/>
              </a:rPr>
              <a:t>High Accuracy</a:t>
            </a:r>
            <a:endParaRPr lang="en-US" sz="1350" dirty="0"/>
          </a:p>
        </p:txBody>
      </p:sp>
      <p:sp>
        <p:nvSpPr>
          <p:cNvPr id="17" name="Text 12"/>
          <p:cNvSpPr/>
          <p:nvPr/>
        </p:nvSpPr>
        <p:spPr>
          <a:xfrm>
            <a:off x="1426464" y="3410712"/>
            <a:ext cx="4247388" cy="530352"/>
          </a:xfrm>
          <a:prstGeom prst="rect">
            <a:avLst/>
          </a:prstGeom>
          <a:noFill/>
          <a:ln/>
        </p:spPr>
        <p:txBody>
          <a:bodyPr wrap="square" rtlCol="0" anchor="ctr"/>
          <a:lstStyle/>
          <a:p>
            <a:pPr marL="0" indent="0">
              <a:lnSpc>
                <a:spcPct val="112000"/>
              </a:lnSpc>
              <a:buNone/>
            </a:pPr>
            <a:r>
              <a:rPr lang="en-US" sz="1150" dirty="0">
                <a:solidFill>
                  <a:srgbClr val="374856"/>
                </a:solidFill>
                <a:latin typeface="Times New Roman" pitchFamily="34" charset="0"/>
                <a:ea typeface="Times New Roman" pitchFamily="34" charset="-122"/>
                <a:cs typeface="Times New Roman" pitchFamily="34" charset="-120"/>
              </a:rPr>
              <a:t>Detects subtle patterns with strong consistency.</a:t>
            </a:r>
            <a:endParaRPr lang="en-US" sz="1150" dirty="0"/>
          </a:p>
        </p:txBody>
      </p:sp>
      <p:sp>
        <p:nvSpPr>
          <p:cNvPr id="18" name="Shape 13"/>
          <p:cNvSpPr/>
          <p:nvPr/>
        </p:nvSpPr>
        <p:spPr>
          <a:xfrm>
            <a:off x="804672" y="3977640"/>
            <a:ext cx="475488" cy="475488"/>
          </a:xfrm>
          <a:prstGeom prst="ellipse">
            <a:avLst/>
          </a:prstGeom>
          <a:solidFill>
            <a:srgbClr val="0B4F8A"/>
          </a:solidFill>
          <a:ln/>
        </p:spPr>
        <p:txBody>
          <a:bodyPr/>
          <a:lstStyle/>
          <a:p>
            <a:endParaRPr lang="en-US"/>
          </a:p>
        </p:txBody>
      </p:sp>
      <p:pic>
        <p:nvPicPr>
          <p:cNvPr id="19" name="Image 3" descr="icons/warning_white.png"/>
          <p:cNvPicPr>
            <a:picLocks noChangeAspect="1"/>
          </p:cNvPicPr>
          <p:nvPr/>
        </p:nvPicPr>
        <p:blipFill>
          <a:blip r:embed="rId6"/>
          <a:stretch>
            <a:fillRect/>
          </a:stretch>
        </p:blipFill>
        <p:spPr>
          <a:xfrm>
            <a:off x="932688" y="4087368"/>
            <a:ext cx="237744" cy="237744"/>
          </a:xfrm>
          <a:prstGeom prst="rect">
            <a:avLst/>
          </a:prstGeom>
        </p:spPr>
      </p:pic>
      <p:sp>
        <p:nvSpPr>
          <p:cNvPr id="20" name="Text 14"/>
          <p:cNvSpPr/>
          <p:nvPr/>
        </p:nvSpPr>
        <p:spPr>
          <a:xfrm>
            <a:off x="1426464" y="3941064"/>
            <a:ext cx="4247388" cy="292608"/>
          </a:xfrm>
          <a:prstGeom prst="rect">
            <a:avLst/>
          </a:prstGeom>
          <a:noFill/>
          <a:ln/>
        </p:spPr>
        <p:txBody>
          <a:bodyPr wrap="square" rtlCol="0" anchor="ctr"/>
          <a:lstStyle/>
          <a:p>
            <a:pPr marL="0" indent="0">
              <a:buNone/>
            </a:pPr>
            <a:r>
              <a:rPr lang="en-US" sz="1350" b="1" dirty="0">
                <a:solidFill>
                  <a:srgbClr val="0A2540"/>
                </a:solidFill>
                <a:latin typeface="Times New Roman" pitchFamily="34" charset="0"/>
                <a:ea typeface="Times New Roman" pitchFamily="34" charset="-122"/>
                <a:cs typeface="Times New Roman" pitchFamily="34" charset="-120"/>
              </a:rPr>
              <a:t>Early Disease Detection</a:t>
            </a:r>
            <a:endParaRPr lang="en-US" sz="1350" dirty="0"/>
          </a:p>
        </p:txBody>
      </p:sp>
      <p:sp>
        <p:nvSpPr>
          <p:cNvPr id="21" name="Text 15"/>
          <p:cNvSpPr/>
          <p:nvPr/>
        </p:nvSpPr>
        <p:spPr>
          <a:xfrm>
            <a:off x="1426464" y="4233672"/>
            <a:ext cx="4247388" cy="530352"/>
          </a:xfrm>
          <a:prstGeom prst="rect">
            <a:avLst/>
          </a:prstGeom>
          <a:noFill/>
          <a:ln/>
        </p:spPr>
        <p:txBody>
          <a:bodyPr wrap="square" rtlCol="0" anchor="ctr"/>
          <a:lstStyle/>
          <a:p>
            <a:pPr marL="0" indent="0">
              <a:lnSpc>
                <a:spcPct val="112000"/>
              </a:lnSpc>
              <a:buNone/>
            </a:pPr>
            <a:r>
              <a:rPr lang="en-US" sz="1150" dirty="0">
                <a:solidFill>
                  <a:srgbClr val="374856"/>
                </a:solidFill>
                <a:latin typeface="Times New Roman" pitchFamily="34" charset="0"/>
                <a:ea typeface="Times New Roman" pitchFamily="34" charset="-122"/>
                <a:cs typeface="Times New Roman" pitchFamily="34" charset="-120"/>
              </a:rPr>
              <a:t>Flags abnormalities at earlier, more treatable stages.</a:t>
            </a:r>
            <a:endParaRPr lang="en-US" sz="1150" dirty="0"/>
          </a:p>
        </p:txBody>
      </p:sp>
      <p:sp>
        <p:nvSpPr>
          <p:cNvPr id="22" name="Shape 16"/>
          <p:cNvSpPr/>
          <p:nvPr/>
        </p:nvSpPr>
        <p:spPr>
          <a:xfrm>
            <a:off x="804672" y="4800600"/>
            <a:ext cx="475488" cy="475488"/>
          </a:xfrm>
          <a:prstGeom prst="ellipse">
            <a:avLst/>
          </a:prstGeom>
          <a:solidFill>
            <a:srgbClr val="0B4F8A"/>
          </a:solidFill>
          <a:ln/>
        </p:spPr>
        <p:txBody>
          <a:bodyPr/>
          <a:lstStyle/>
          <a:p>
            <a:endParaRPr lang="en-US"/>
          </a:p>
        </p:txBody>
      </p:sp>
      <p:pic>
        <p:nvPicPr>
          <p:cNvPr id="23" name="Image 4" descr="icons/check_white.png"/>
          <p:cNvPicPr>
            <a:picLocks noChangeAspect="1"/>
          </p:cNvPicPr>
          <p:nvPr/>
        </p:nvPicPr>
        <p:blipFill>
          <a:blip r:embed="rId7"/>
          <a:stretch>
            <a:fillRect/>
          </a:stretch>
        </p:blipFill>
        <p:spPr>
          <a:xfrm>
            <a:off x="914400" y="4928616"/>
            <a:ext cx="256032" cy="256032"/>
          </a:xfrm>
          <a:prstGeom prst="rect">
            <a:avLst/>
          </a:prstGeom>
        </p:spPr>
      </p:pic>
      <p:sp>
        <p:nvSpPr>
          <p:cNvPr id="24" name="Text 17"/>
          <p:cNvSpPr/>
          <p:nvPr/>
        </p:nvSpPr>
        <p:spPr>
          <a:xfrm>
            <a:off x="1426464" y="4764024"/>
            <a:ext cx="4247388" cy="292608"/>
          </a:xfrm>
          <a:prstGeom prst="rect">
            <a:avLst/>
          </a:prstGeom>
          <a:noFill/>
          <a:ln/>
        </p:spPr>
        <p:txBody>
          <a:bodyPr wrap="square" rtlCol="0" anchor="ctr"/>
          <a:lstStyle/>
          <a:p>
            <a:pPr marL="0" indent="0">
              <a:buNone/>
            </a:pPr>
            <a:r>
              <a:rPr lang="en-US" sz="1350" b="1" dirty="0">
                <a:solidFill>
                  <a:srgbClr val="0A2540"/>
                </a:solidFill>
                <a:latin typeface="Times New Roman" pitchFamily="34" charset="0"/>
                <a:ea typeface="Times New Roman" pitchFamily="34" charset="-122"/>
                <a:cs typeface="Times New Roman" pitchFamily="34" charset="-120"/>
              </a:rPr>
              <a:t>Reduced Human Error</a:t>
            </a:r>
            <a:endParaRPr lang="en-US" sz="1350" dirty="0"/>
          </a:p>
        </p:txBody>
      </p:sp>
      <p:sp>
        <p:nvSpPr>
          <p:cNvPr id="25" name="Text 18"/>
          <p:cNvSpPr/>
          <p:nvPr/>
        </p:nvSpPr>
        <p:spPr>
          <a:xfrm>
            <a:off x="1426464" y="5056632"/>
            <a:ext cx="4247388" cy="530352"/>
          </a:xfrm>
          <a:prstGeom prst="rect">
            <a:avLst/>
          </a:prstGeom>
          <a:noFill/>
          <a:ln/>
        </p:spPr>
        <p:txBody>
          <a:bodyPr wrap="square" rtlCol="0" anchor="ctr"/>
          <a:lstStyle/>
          <a:p>
            <a:pPr marL="0" indent="0">
              <a:lnSpc>
                <a:spcPct val="112000"/>
              </a:lnSpc>
              <a:buNone/>
            </a:pPr>
            <a:r>
              <a:rPr lang="en-US" sz="1150" dirty="0">
                <a:solidFill>
                  <a:srgbClr val="374856"/>
                </a:solidFill>
                <a:latin typeface="Times New Roman" pitchFamily="34" charset="0"/>
                <a:ea typeface="Times New Roman" pitchFamily="34" charset="-122"/>
                <a:cs typeface="Times New Roman" pitchFamily="34" charset="-120"/>
              </a:rPr>
              <a:t>Minimizes fatigue-related oversight in readings.</a:t>
            </a:r>
            <a:endParaRPr lang="en-US" sz="1150" dirty="0"/>
          </a:p>
        </p:txBody>
      </p:sp>
      <p:sp>
        <p:nvSpPr>
          <p:cNvPr id="26" name="Shape 19"/>
          <p:cNvSpPr/>
          <p:nvPr/>
        </p:nvSpPr>
        <p:spPr>
          <a:xfrm>
            <a:off x="804672" y="5623560"/>
            <a:ext cx="475488" cy="475488"/>
          </a:xfrm>
          <a:prstGeom prst="ellipse">
            <a:avLst/>
          </a:prstGeom>
          <a:solidFill>
            <a:srgbClr val="0B4F8A"/>
          </a:solidFill>
          <a:ln/>
        </p:spPr>
        <p:txBody>
          <a:bodyPr/>
          <a:lstStyle/>
          <a:p>
            <a:endParaRPr lang="en-US"/>
          </a:p>
        </p:txBody>
      </p:sp>
      <p:pic>
        <p:nvPicPr>
          <p:cNvPr id="27" name="Image 5" descr="icons/userMd_white.png"/>
          <p:cNvPicPr>
            <a:picLocks noChangeAspect="1"/>
          </p:cNvPicPr>
          <p:nvPr/>
        </p:nvPicPr>
        <p:blipFill>
          <a:blip r:embed="rId8"/>
          <a:stretch>
            <a:fillRect/>
          </a:stretch>
        </p:blipFill>
        <p:spPr>
          <a:xfrm>
            <a:off x="923544" y="5733288"/>
            <a:ext cx="256032" cy="256032"/>
          </a:xfrm>
          <a:prstGeom prst="rect">
            <a:avLst/>
          </a:prstGeom>
        </p:spPr>
      </p:pic>
      <p:sp>
        <p:nvSpPr>
          <p:cNvPr id="28" name="Text 20"/>
          <p:cNvSpPr/>
          <p:nvPr/>
        </p:nvSpPr>
        <p:spPr>
          <a:xfrm>
            <a:off x="1426464" y="5586984"/>
            <a:ext cx="4247388" cy="292608"/>
          </a:xfrm>
          <a:prstGeom prst="rect">
            <a:avLst/>
          </a:prstGeom>
          <a:noFill/>
          <a:ln/>
        </p:spPr>
        <p:txBody>
          <a:bodyPr wrap="square" rtlCol="0" anchor="ctr"/>
          <a:lstStyle/>
          <a:p>
            <a:pPr marL="0" indent="0">
              <a:buNone/>
            </a:pPr>
            <a:r>
              <a:rPr lang="en-US" sz="1350" b="1" dirty="0">
                <a:solidFill>
                  <a:srgbClr val="0A2540"/>
                </a:solidFill>
                <a:latin typeface="Times New Roman" pitchFamily="34" charset="0"/>
                <a:ea typeface="Times New Roman" pitchFamily="34" charset="-122"/>
                <a:cs typeface="Times New Roman" pitchFamily="34" charset="-120"/>
              </a:rPr>
              <a:t>Decision Support for Doctors</a:t>
            </a:r>
            <a:endParaRPr lang="en-US" sz="1350" dirty="0"/>
          </a:p>
        </p:txBody>
      </p:sp>
      <p:sp>
        <p:nvSpPr>
          <p:cNvPr id="29" name="Text 21"/>
          <p:cNvSpPr/>
          <p:nvPr/>
        </p:nvSpPr>
        <p:spPr>
          <a:xfrm>
            <a:off x="1426464" y="5879592"/>
            <a:ext cx="4247388" cy="530352"/>
          </a:xfrm>
          <a:prstGeom prst="rect">
            <a:avLst/>
          </a:prstGeom>
          <a:noFill/>
          <a:ln/>
        </p:spPr>
        <p:txBody>
          <a:bodyPr wrap="square" rtlCol="0" anchor="ctr"/>
          <a:lstStyle/>
          <a:p>
            <a:pPr marL="0" indent="0">
              <a:lnSpc>
                <a:spcPct val="112000"/>
              </a:lnSpc>
              <a:buNone/>
            </a:pPr>
            <a:r>
              <a:rPr lang="en-US" sz="1150" dirty="0">
                <a:solidFill>
                  <a:srgbClr val="374856"/>
                </a:solidFill>
                <a:latin typeface="Times New Roman" pitchFamily="34" charset="0"/>
                <a:ea typeface="Times New Roman" pitchFamily="34" charset="-122"/>
                <a:cs typeface="Times New Roman" pitchFamily="34" charset="-120"/>
              </a:rPr>
              <a:t>Acts as a second opinion, not a replacement.</a:t>
            </a:r>
            <a:endParaRPr lang="en-US" sz="1150" dirty="0"/>
          </a:p>
        </p:txBody>
      </p:sp>
      <p:sp>
        <p:nvSpPr>
          <p:cNvPr id="30" name="Shape 22"/>
          <p:cNvSpPr/>
          <p:nvPr/>
        </p:nvSpPr>
        <p:spPr>
          <a:xfrm>
            <a:off x="6277356" y="1371600"/>
            <a:ext cx="5362956" cy="5074920"/>
          </a:xfrm>
          <a:prstGeom prst="roundRect">
            <a:avLst>
              <a:gd name="adj" fmla="val 1802"/>
            </a:avLst>
          </a:prstGeom>
          <a:solidFill>
            <a:srgbClr val="FFFFFF"/>
          </a:solidFill>
          <a:ln w="12700">
            <a:solidFill>
              <a:srgbClr val="D7E1E8"/>
            </a:solidFill>
            <a:prstDash val="solid"/>
          </a:ln>
        </p:spPr>
        <p:txBody>
          <a:bodyPr/>
          <a:lstStyle/>
          <a:p>
            <a:endParaRPr lang="en-US"/>
          </a:p>
        </p:txBody>
      </p:sp>
      <p:sp>
        <p:nvSpPr>
          <p:cNvPr id="31" name="Shape 23"/>
          <p:cNvSpPr/>
          <p:nvPr/>
        </p:nvSpPr>
        <p:spPr>
          <a:xfrm>
            <a:off x="6277356" y="1371600"/>
            <a:ext cx="5362956" cy="731520"/>
          </a:xfrm>
          <a:prstGeom prst="roundRect">
            <a:avLst>
              <a:gd name="adj" fmla="val 12500"/>
            </a:avLst>
          </a:prstGeom>
          <a:solidFill>
            <a:srgbClr val="0A2540"/>
          </a:solidFill>
          <a:ln/>
        </p:spPr>
        <p:txBody>
          <a:bodyPr/>
          <a:lstStyle/>
          <a:p>
            <a:endParaRPr lang="en-US"/>
          </a:p>
        </p:txBody>
      </p:sp>
      <p:sp>
        <p:nvSpPr>
          <p:cNvPr id="32" name="Shape 24"/>
          <p:cNvSpPr/>
          <p:nvPr/>
        </p:nvSpPr>
        <p:spPr>
          <a:xfrm>
            <a:off x="6277356" y="1755648"/>
            <a:ext cx="5362956" cy="347472"/>
          </a:xfrm>
          <a:prstGeom prst="rect">
            <a:avLst/>
          </a:prstGeom>
          <a:solidFill>
            <a:srgbClr val="0A2540"/>
          </a:solidFill>
          <a:ln/>
        </p:spPr>
        <p:txBody>
          <a:bodyPr/>
          <a:lstStyle/>
          <a:p>
            <a:endParaRPr lang="en-US"/>
          </a:p>
        </p:txBody>
      </p:sp>
      <p:sp>
        <p:nvSpPr>
          <p:cNvPr id="33" name="Shape 25"/>
          <p:cNvSpPr/>
          <p:nvPr/>
        </p:nvSpPr>
        <p:spPr>
          <a:xfrm>
            <a:off x="6478524" y="1499616"/>
            <a:ext cx="475488" cy="475488"/>
          </a:xfrm>
          <a:prstGeom prst="ellipse">
            <a:avLst/>
          </a:prstGeom>
          <a:solidFill>
            <a:srgbClr val="FFFFFF"/>
          </a:solidFill>
          <a:ln/>
        </p:spPr>
        <p:txBody>
          <a:bodyPr/>
          <a:lstStyle/>
          <a:p>
            <a:endParaRPr lang="en-US"/>
          </a:p>
        </p:txBody>
      </p:sp>
      <p:pic>
        <p:nvPicPr>
          <p:cNvPr id="34" name="Image 6" descr="icons/warning_navy.png"/>
          <p:cNvPicPr>
            <a:picLocks noChangeAspect="1"/>
          </p:cNvPicPr>
          <p:nvPr/>
        </p:nvPicPr>
        <p:blipFill>
          <a:blip r:embed="rId9"/>
          <a:stretch>
            <a:fillRect/>
          </a:stretch>
        </p:blipFill>
        <p:spPr>
          <a:xfrm>
            <a:off x="6579108" y="1591056"/>
            <a:ext cx="292608" cy="292608"/>
          </a:xfrm>
          <a:prstGeom prst="rect">
            <a:avLst/>
          </a:prstGeom>
        </p:spPr>
      </p:pic>
      <p:sp>
        <p:nvSpPr>
          <p:cNvPr id="35" name="Text 26"/>
          <p:cNvSpPr/>
          <p:nvPr/>
        </p:nvSpPr>
        <p:spPr>
          <a:xfrm>
            <a:off x="7082028" y="1371600"/>
            <a:ext cx="4448556" cy="731520"/>
          </a:xfrm>
          <a:prstGeom prst="rect">
            <a:avLst/>
          </a:prstGeom>
          <a:noFill/>
          <a:ln/>
        </p:spPr>
        <p:txBody>
          <a:bodyPr wrap="square" rtlCol="0" anchor="ctr"/>
          <a:lstStyle/>
          <a:p>
            <a:pPr marL="0" indent="0">
              <a:buNone/>
            </a:pPr>
            <a:r>
              <a:rPr lang="en-US" sz="1800" b="1" dirty="0">
                <a:solidFill>
                  <a:srgbClr val="FFFFFF"/>
                </a:solidFill>
                <a:latin typeface="Times New Roman" pitchFamily="34" charset="0"/>
                <a:ea typeface="Times New Roman" pitchFamily="34" charset="-122"/>
                <a:cs typeface="Times New Roman" pitchFamily="34" charset="-120"/>
              </a:rPr>
              <a:t>Challenges</a:t>
            </a:r>
            <a:endParaRPr lang="en-US" sz="1800" dirty="0"/>
          </a:p>
        </p:txBody>
      </p:sp>
      <p:sp>
        <p:nvSpPr>
          <p:cNvPr id="36" name="Shape 27"/>
          <p:cNvSpPr/>
          <p:nvPr/>
        </p:nvSpPr>
        <p:spPr>
          <a:xfrm>
            <a:off x="6533388" y="2331720"/>
            <a:ext cx="475488" cy="475488"/>
          </a:xfrm>
          <a:prstGeom prst="ellipse">
            <a:avLst/>
          </a:prstGeom>
          <a:solidFill>
            <a:srgbClr val="4C606D"/>
          </a:solidFill>
          <a:ln/>
        </p:spPr>
        <p:txBody>
          <a:bodyPr/>
          <a:lstStyle/>
          <a:p>
            <a:endParaRPr lang="en-US"/>
          </a:p>
        </p:txBody>
      </p:sp>
      <p:pic>
        <p:nvPicPr>
          <p:cNvPr id="37" name="Image 7" descr="icons/database_white.png"/>
          <p:cNvPicPr>
            <a:picLocks noChangeAspect="1"/>
          </p:cNvPicPr>
          <p:nvPr/>
        </p:nvPicPr>
        <p:blipFill>
          <a:blip r:embed="rId10"/>
          <a:stretch>
            <a:fillRect/>
          </a:stretch>
        </p:blipFill>
        <p:spPr>
          <a:xfrm>
            <a:off x="6659372" y="2468880"/>
            <a:ext cx="219456" cy="219456"/>
          </a:xfrm>
          <a:prstGeom prst="rect">
            <a:avLst/>
          </a:prstGeom>
        </p:spPr>
      </p:pic>
      <p:sp>
        <p:nvSpPr>
          <p:cNvPr id="38" name="Text 28"/>
          <p:cNvSpPr/>
          <p:nvPr/>
        </p:nvSpPr>
        <p:spPr>
          <a:xfrm>
            <a:off x="7155180" y="2295144"/>
            <a:ext cx="4247388" cy="292608"/>
          </a:xfrm>
          <a:prstGeom prst="rect">
            <a:avLst/>
          </a:prstGeom>
          <a:noFill/>
          <a:ln/>
        </p:spPr>
        <p:txBody>
          <a:bodyPr wrap="square" rtlCol="0" anchor="ctr"/>
          <a:lstStyle/>
          <a:p>
            <a:pPr marL="0" indent="0">
              <a:buNone/>
            </a:pPr>
            <a:r>
              <a:rPr lang="en-US" sz="1350" b="1" dirty="0">
                <a:solidFill>
                  <a:srgbClr val="0A2540"/>
                </a:solidFill>
                <a:latin typeface="Times New Roman" pitchFamily="34" charset="0"/>
                <a:ea typeface="Times New Roman" pitchFamily="34" charset="-122"/>
                <a:cs typeface="Times New Roman" pitchFamily="34" charset="-120"/>
              </a:rPr>
              <a:t>Requires Large Datasets</a:t>
            </a:r>
            <a:endParaRPr lang="en-US" sz="1350" dirty="0"/>
          </a:p>
        </p:txBody>
      </p:sp>
      <p:sp>
        <p:nvSpPr>
          <p:cNvPr id="39" name="Text 29"/>
          <p:cNvSpPr/>
          <p:nvPr/>
        </p:nvSpPr>
        <p:spPr>
          <a:xfrm>
            <a:off x="7155180" y="2587752"/>
            <a:ext cx="4247388" cy="530352"/>
          </a:xfrm>
          <a:prstGeom prst="rect">
            <a:avLst/>
          </a:prstGeom>
          <a:noFill/>
          <a:ln/>
        </p:spPr>
        <p:txBody>
          <a:bodyPr wrap="square" rtlCol="0" anchor="ctr"/>
          <a:lstStyle/>
          <a:p>
            <a:pPr marL="0" indent="0">
              <a:lnSpc>
                <a:spcPct val="112000"/>
              </a:lnSpc>
              <a:buNone/>
            </a:pPr>
            <a:r>
              <a:rPr lang="en-US" sz="1150" dirty="0">
                <a:solidFill>
                  <a:srgbClr val="374856"/>
                </a:solidFill>
                <a:latin typeface="Times New Roman" pitchFamily="34" charset="0"/>
                <a:ea typeface="Times New Roman" pitchFamily="34" charset="-122"/>
                <a:cs typeface="Times New Roman" pitchFamily="34" charset="-120"/>
              </a:rPr>
              <a:t>Needs vast, well-labeled MRI data to train reliably.</a:t>
            </a:r>
            <a:endParaRPr lang="en-US" sz="1150" dirty="0"/>
          </a:p>
        </p:txBody>
      </p:sp>
      <p:sp>
        <p:nvSpPr>
          <p:cNvPr id="40" name="Shape 30"/>
          <p:cNvSpPr/>
          <p:nvPr/>
        </p:nvSpPr>
        <p:spPr>
          <a:xfrm>
            <a:off x="6533388" y="3319272"/>
            <a:ext cx="475488" cy="475488"/>
          </a:xfrm>
          <a:prstGeom prst="ellipse">
            <a:avLst/>
          </a:prstGeom>
          <a:solidFill>
            <a:srgbClr val="4C606D"/>
          </a:solidFill>
          <a:ln/>
        </p:spPr>
        <p:txBody>
          <a:bodyPr/>
          <a:lstStyle/>
          <a:p>
            <a:endParaRPr lang="en-US"/>
          </a:p>
        </p:txBody>
      </p:sp>
      <p:pic>
        <p:nvPicPr>
          <p:cNvPr id="41" name="Image 8" descr="icons/microchip_white.png"/>
          <p:cNvPicPr>
            <a:picLocks noChangeAspect="1"/>
          </p:cNvPicPr>
          <p:nvPr/>
        </p:nvPicPr>
        <p:blipFill>
          <a:blip r:embed="rId11"/>
          <a:stretch>
            <a:fillRect/>
          </a:stretch>
        </p:blipFill>
        <p:spPr>
          <a:xfrm>
            <a:off x="6631940" y="3419856"/>
            <a:ext cx="274320" cy="274320"/>
          </a:xfrm>
          <a:prstGeom prst="rect">
            <a:avLst/>
          </a:prstGeom>
        </p:spPr>
      </p:pic>
      <p:sp>
        <p:nvSpPr>
          <p:cNvPr id="42" name="Text 31"/>
          <p:cNvSpPr/>
          <p:nvPr/>
        </p:nvSpPr>
        <p:spPr>
          <a:xfrm>
            <a:off x="7155180" y="3282696"/>
            <a:ext cx="4247388" cy="292608"/>
          </a:xfrm>
          <a:prstGeom prst="rect">
            <a:avLst/>
          </a:prstGeom>
          <a:noFill/>
          <a:ln/>
        </p:spPr>
        <p:txBody>
          <a:bodyPr wrap="square" rtlCol="0" anchor="ctr"/>
          <a:lstStyle/>
          <a:p>
            <a:pPr marL="0" indent="0">
              <a:buNone/>
            </a:pPr>
            <a:r>
              <a:rPr lang="en-US" sz="1350" b="1" dirty="0">
                <a:solidFill>
                  <a:srgbClr val="0A2540"/>
                </a:solidFill>
                <a:latin typeface="Times New Roman" pitchFamily="34" charset="0"/>
                <a:ea typeface="Times New Roman" pitchFamily="34" charset="-122"/>
                <a:cs typeface="Times New Roman" pitchFamily="34" charset="-120"/>
              </a:rPr>
              <a:t>High Computational Cost</a:t>
            </a:r>
            <a:endParaRPr lang="en-US" sz="1350" dirty="0"/>
          </a:p>
        </p:txBody>
      </p:sp>
      <p:sp>
        <p:nvSpPr>
          <p:cNvPr id="43" name="Text 32"/>
          <p:cNvSpPr/>
          <p:nvPr/>
        </p:nvSpPr>
        <p:spPr>
          <a:xfrm>
            <a:off x="7155180" y="3575304"/>
            <a:ext cx="4247388" cy="530352"/>
          </a:xfrm>
          <a:prstGeom prst="rect">
            <a:avLst/>
          </a:prstGeom>
          <a:noFill/>
          <a:ln/>
        </p:spPr>
        <p:txBody>
          <a:bodyPr wrap="square" rtlCol="0" anchor="ctr"/>
          <a:lstStyle/>
          <a:p>
            <a:pPr marL="0" indent="0">
              <a:lnSpc>
                <a:spcPct val="112000"/>
              </a:lnSpc>
              <a:buNone/>
            </a:pPr>
            <a:r>
              <a:rPr lang="en-US" sz="1150" dirty="0">
                <a:solidFill>
                  <a:srgbClr val="374856"/>
                </a:solidFill>
                <a:latin typeface="Times New Roman" pitchFamily="34" charset="0"/>
                <a:ea typeface="Times New Roman" pitchFamily="34" charset="-122"/>
                <a:cs typeface="Times New Roman" pitchFamily="34" charset="-120"/>
              </a:rPr>
              <a:t>Training and running models demands significant hardware.</a:t>
            </a:r>
            <a:endParaRPr lang="en-US" sz="1150" dirty="0"/>
          </a:p>
        </p:txBody>
      </p:sp>
      <p:sp>
        <p:nvSpPr>
          <p:cNvPr id="44" name="Shape 33"/>
          <p:cNvSpPr/>
          <p:nvPr/>
        </p:nvSpPr>
        <p:spPr>
          <a:xfrm>
            <a:off x="6533388" y="4306824"/>
            <a:ext cx="475488" cy="475488"/>
          </a:xfrm>
          <a:prstGeom prst="ellipse">
            <a:avLst/>
          </a:prstGeom>
          <a:solidFill>
            <a:srgbClr val="4C606D"/>
          </a:solidFill>
          <a:ln/>
        </p:spPr>
        <p:txBody>
          <a:bodyPr/>
          <a:lstStyle/>
          <a:p>
            <a:endParaRPr lang="en-US"/>
          </a:p>
        </p:txBody>
      </p:sp>
      <p:pic>
        <p:nvPicPr>
          <p:cNvPr id="45" name="Image 9" descr="icons/lock_white.png"/>
          <p:cNvPicPr>
            <a:picLocks noChangeAspect="1"/>
          </p:cNvPicPr>
          <p:nvPr/>
        </p:nvPicPr>
        <p:blipFill>
          <a:blip r:embed="rId12"/>
          <a:stretch>
            <a:fillRect/>
          </a:stretch>
        </p:blipFill>
        <p:spPr>
          <a:xfrm>
            <a:off x="6661404" y="4434840"/>
            <a:ext cx="182880" cy="182880"/>
          </a:xfrm>
          <a:prstGeom prst="rect">
            <a:avLst/>
          </a:prstGeom>
        </p:spPr>
      </p:pic>
      <p:sp>
        <p:nvSpPr>
          <p:cNvPr id="46" name="Text 34"/>
          <p:cNvSpPr/>
          <p:nvPr/>
        </p:nvSpPr>
        <p:spPr>
          <a:xfrm>
            <a:off x="7155180" y="4270248"/>
            <a:ext cx="4247388" cy="292608"/>
          </a:xfrm>
          <a:prstGeom prst="rect">
            <a:avLst/>
          </a:prstGeom>
          <a:noFill/>
          <a:ln/>
        </p:spPr>
        <p:txBody>
          <a:bodyPr wrap="square" rtlCol="0" anchor="ctr"/>
          <a:lstStyle/>
          <a:p>
            <a:pPr marL="0" indent="0">
              <a:buNone/>
            </a:pPr>
            <a:r>
              <a:rPr lang="en-US" sz="1350" b="1" dirty="0">
                <a:solidFill>
                  <a:srgbClr val="0A2540"/>
                </a:solidFill>
                <a:latin typeface="Times New Roman" pitchFamily="34" charset="0"/>
                <a:ea typeface="Times New Roman" pitchFamily="34" charset="-122"/>
                <a:cs typeface="Times New Roman" pitchFamily="34" charset="-120"/>
              </a:rPr>
              <a:t>Data Privacy Concerns</a:t>
            </a:r>
            <a:endParaRPr lang="en-US" sz="1350" dirty="0"/>
          </a:p>
        </p:txBody>
      </p:sp>
      <p:sp>
        <p:nvSpPr>
          <p:cNvPr id="47" name="Text 35"/>
          <p:cNvSpPr/>
          <p:nvPr/>
        </p:nvSpPr>
        <p:spPr>
          <a:xfrm>
            <a:off x="7155180" y="4562856"/>
            <a:ext cx="4247388" cy="530352"/>
          </a:xfrm>
          <a:prstGeom prst="rect">
            <a:avLst/>
          </a:prstGeom>
          <a:noFill/>
          <a:ln/>
        </p:spPr>
        <p:txBody>
          <a:bodyPr wrap="square" rtlCol="0" anchor="ctr"/>
          <a:lstStyle/>
          <a:p>
            <a:pPr marL="0" indent="0">
              <a:lnSpc>
                <a:spcPct val="112000"/>
              </a:lnSpc>
              <a:buNone/>
            </a:pPr>
            <a:r>
              <a:rPr lang="en-US" sz="1150" dirty="0">
                <a:solidFill>
                  <a:srgbClr val="374856"/>
                </a:solidFill>
                <a:latin typeface="Times New Roman" pitchFamily="34" charset="0"/>
                <a:ea typeface="Times New Roman" pitchFamily="34" charset="-122"/>
                <a:cs typeface="Times New Roman" pitchFamily="34" charset="-120"/>
              </a:rPr>
              <a:t>Patient scan data must be secured and handled ethically.</a:t>
            </a:r>
            <a:endParaRPr lang="en-US" sz="1150" dirty="0"/>
          </a:p>
        </p:txBody>
      </p:sp>
      <p:sp>
        <p:nvSpPr>
          <p:cNvPr id="48" name="Shape 36"/>
          <p:cNvSpPr/>
          <p:nvPr/>
        </p:nvSpPr>
        <p:spPr>
          <a:xfrm>
            <a:off x="6533388" y="5294376"/>
            <a:ext cx="475488" cy="475488"/>
          </a:xfrm>
          <a:prstGeom prst="ellipse">
            <a:avLst/>
          </a:prstGeom>
          <a:solidFill>
            <a:srgbClr val="4C606D"/>
          </a:solidFill>
          <a:ln/>
        </p:spPr>
        <p:txBody>
          <a:bodyPr/>
          <a:lstStyle/>
          <a:p>
            <a:endParaRPr lang="en-US"/>
          </a:p>
        </p:txBody>
      </p:sp>
      <p:pic>
        <p:nvPicPr>
          <p:cNvPr id="49" name="Image 10" descr="icons/userMd_white.png"/>
          <p:cNvPicPr>
            <a:picLocks noChangeAspect="1"/>
          </p:cNvPicPr>
          <p:nvPr/>
        </p:nvPicPr>
        <p:blipFill>
          <a:blip r:embed="rId8"/>
          <a:stretch>
            <a:fillRect/>
          </a:stretch>
        </p:blipFill>
        <p:spPr>
          <a:xfrm>
            <a:off x="6641084" y="5419344"/>
            <a:ext cx="237744" cy="237744"/>
          </a:xfrm>
          <a:prstGeom prst="rect">
            <a:avLst/>
          </a:prstGeom>
        </p:spPr>
      </p:pic>
      <p:sp>
        <p:nvSpPr>
          <p:cNvPr id="50" name="Text 37"/>
          <p:cNvSpPr/>
          <p:nvPr/>
        </p:nvSpPr>
        <p:spPr>
          <a:xfrm>
            <a:off x="7155180" y="5257800"/>
            <a:ext cx="4247388" cy="292608"/>
          </a:xfrm>
          <a:prstGeom prst="rect">
            <a:avLst/>
          </a:prstGeom>
          <a:noFill/>
          <a:ln/>
        </p:spPr>
        <p:txBody>
          <a:bodyPr wrap="square" rtlCol="0" anchor="ctr"/>
          <a:lstStyle/>
          <a:p>
            <a:pPr marL="0" indent="0">
              <a:buNone/>
            </a:pPr>
            <a:r>
              <a:rPr lang="en-US" sz="1350" b="1" dirty="0">
                <a:solidFill>
                  <a:srgbClr val="0A2540"/>
                </a:solidFill>
                <a:latin typeface="Times New Roman" pitchFamily="34" charset="0"/>
                <a:ea typeface="Times New Roman" pitchFamily="34" charset="-122"/>
                <a:cs typeface="Times New Roman" pitchFamily="34" charset="-120"/>
              </a:rPr>
              <a:t>Cannot Replace Doctors</a:t>
            </a:r>
            <a:endParaRPr lang="en-US" sz="1350" dirty="0"/>
          </a:p>
        </p:txBody>
      </p:sp>
      <p:sp>
        <p:nvSpPr>
          <p:cNvPr id="51" name="Text 38"/>
          <p:cNvSpPr/>
          <p:nvPr/>
        </p:nvSpPr>
        <p:spPr>
          <a:xfrm>
            <a:off x="7155180" y="5550408"/>
            <a:ext cx="4247388" cy="530352"/>
          </a:xfrm>
          <a:prstGeom prst="rect">
            <a:avLst/>
          </a:prstGeom>
          <a:noFill/>
          <a:ln/>
        </p:spPr>
        <p:txBody>
          <a:bodyPr wrap="square" rtlCol="0" anchor="ctr"/>
          <a:lstStyle/>
          <a:p>
            <a:pPr marL="0" indent="0">
              <a:lnSpc>
                <a:spcPct val="112000"/>
              </a:lnSpc>
              <a:buNone/>
            </a:pPr>
            <a:r>
              <a:rPr lang="en-US" sz="1150" dirty="0">
                <a:solidFill>
                  <a:srgbClr val="374856"/>
                </a:solidFill>
                <a:latin typeface="Times New Roman" pitchFamily="34" charset="0"/>
                <a:ea typeface="Times New Roman" pitchFamily="34" charset="-122"/>
                <a:cs typeface="Times New Roman" pitchFamily="34" charset="-120"/>
              </a:rPr>
              <a:t>Clinical judgment and patient context remain essential.</a:t>
            </a:r>
            <a:endParaRPr lang="en-US" sz="1150" dirty="0"/>
          </a:p>
        </p:txBody>
      </p:sp>
      <p:sp>
        <p:nvSpPr>
          <p:cNvPr id="52" name="Text 39"/>
          <p:cNvSpPr/>
          <p:nvPr/>
        </p:nvSpPr>
        <p:spPr>
          <a:xfrm>
            <a:off x="457200" y="6492240"/>
            <a:ext cx="6400800" cy="292608"/>
          </a:xfrm>
          <a:prstGeom prst="rect">
            <a:avLst/>
          </a:prstGeom>
          <a:noFill/>
          <a:ln/>
        </p:spPr>
        <p:txBody>
          <a:bodyPr wrap="square" rtlCol="0" anchor="ctr"/>
          <a:lstStyle/>
          <a:p>
            <a:pPr marL="0" indent="0" algn="l">
              <a:buNone/>
            </a:pPr>
            <a:r>
              <a:rPr lang="en-US" sz="1050" dirty="0">
                <a:solidFill>
                  <a:srgbClr val="4C606D"/>
                </a:solidFill>
                <a:latin typeface="Times New Roman" pitchFamily="34" charset="0"/>
                <a:ea typeface="Times New Roman" pitchFamily="34" charset="-122"/>
                <a:cs typeface="Times New Roman" pitchFamily="34" charset="-120"/>
              </a:rPr>
              <a:t>Medical AI System for MRI Image Analysis</a:t>
            </a:r>
            <a:endParaRPr lang="en-US" sz="1050" dirty="0"/>
          </a:p>
        </p:txBody>
      </p:sp>
      <p:sp>
        <p:nvSpPr>
          <p:cNvPr id="53" name="Text 40"/>
          <p:cNvSpPr/>
          <p:nvPr/>
        </p:nvSpPr>
        <p:spPr>
          <a:xfrm>
            <a:off x="11274552" y="6492240"/>
            <a:ext cx="457200" cy="292608"/>
          </a:xfrm>
          <a:prstGeom prst="rect">
            <a:avLst/>
          </a:prstGeom>
          <a:noFill/>
          <a:ln/>
        </p:spPr>
        <p:txBody>
          <a:bodyPr wrap="square" rtlCol="0" anchor="ctr"/>
          <a:lstStyle/>
          <a:p>
            <a:pPr marL="0" indent="0" algn="r">
              <a:buNone/>
            </a:pPr>
            <a:r>
              <a:rPr lang="en-US" sz="1050" dirty="0">
                <a:solidFill>
                  <a:srgbClr val="4C606D"/>
                </a:solidFill>
                <a:latin typeface="Times New Roman" pitchFamily="34" charset="0"/>
                <a:ea typeface="Times New Roman" pitchFamily="34" charset="-122"/>
                <a:cs typeface="Times New Roman"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3931920" cy="6858000"/>
          </a:xfrm>
          <a:prstGeom prst="rect">
            <a:avLst/>
          </a:prstGeom>
          <a:solidFill>
            <a:srgbClr val="123A5C"/>
          </a:solidFill>
          <a:ln/>
        </p:spPr>
        <p:txBody>
          <a:bodyPr/>
          <a:lstStyle/>
          <a:p>
            <a:endParaRPr lang="en-US"/>
          </a:p>
        </p:txBody>
      </p:sp>
      <p:sp>
        <p:nvSpPr>
          <p:cNvPr id="4" name="Text 1"/>
          <p:cNvSpPr/>
          <p:nvPr/>
        </p:nvSpPr>
        <p:spPr>
          <a:xfrm>
            <a:off x="4297680" y="566928"/>
            <a:ext cx="7132320" cy="621792"/>
          </a:xfrm>
          <a:prstGeom prst="rect">
            <a:avLst/>
          </a:prstGeom>
          <a:noFill/>
          <a:ln/>
        </p:spPr>
        <p:txBody>
          <a:bodyPr wrap="square" rtlCol="0" anchor="ctr"/>
          <a:lstStyle/>
          <a:p>
            <a:pPr marL="0" indent="0">
              <a:buNone/>
            </a:pPr>
            <a:r>
              <a:rPr lang="en-US" sz="3600" b="1" dirty="0">
                <a:solidFill>
                  <a:srgbClr val="FFFFFF"/>
                </a:solidFill>
                <a:latin typeface="Times New Roman" pitchFamily="34" charset="0"/>
                <a:ea typeface="Times New Roman" pitchFamily="34" charset="-122"/>
                <a:cs typeface="Times New Roman" pitchFamily="34" charset="-120"/>
              </a:rPr>
              <a:t>Conclusion</a:t>
            </a:r>
            <a:endParaRPr lang="en-US" sz="3600" dirty="0"/>
          </a:p>
        </p:txBody>
      </p:sp>
      <p:sp>
        <p:nvSpPr>
          <p:cNvPr id="5" name="Shape 2"/>
          <p:cNvSpPr/>
          <p:nvPr/>
        </p:nvSpPr>
        <p:spPr>
          <a:xfrm>
            <a:off x="4297680" y="1389888"/>
            <a:ext cx="219456" cy="219456"/>
          </a:xfrm>
          <a:prstGeom prst="ellipse">
            <a:avLst/>
          </a:prstGeom>
          <a:solidFill>
            <a:srgbClr val="2FB8A6"/>
          </a:solidFill>
          <a:ln/>
        </p:spPr>
        <p:txBody>
          <a:bodyPr/>
          <a:lstStyle/>
          <a:p>
            <a:endParaRPr lang="en-US"/>
          </a:p>
        </p:txBody>
      </p:sp>
      <p:sp>
        <p:nvSpPr>
          <p:cNvPr id="6" name="Text 3"/>
          <p:cNvSpPr/>
          <p:nvPr/>
        </p:nvSpPr>
        <p:spPr>
          <a:xfrm>
            <a:off x="4700016" y="1298448"/>
            <a:ext cx="6766560" cy="530352"/>
          </a:xfrm>
          <a:prstGeom prst="rect">
            <a:avLst/>
          </a:prstGeom>
          <a:noFill/>
          <a:ln/>
        </p:spPr>
        <p:txBody>
          <a:bodyPr wrap="square" rtlCol="0" anchor="t"/>
          <a:lstStyle/>
          <a:p>
            <a:pPr marL="0" indent="0">
              <a:lnSpc>
                <a:spcPct val="115000"/>
              </a:lnSpc>
              <a:buNone/>
            </a:pPr>
            <a:r>
              <a:rPr lang="en-US" sz="1500" dirty="0">
                <a:solidFill>
                  <a:srgbClr val="DCE6EE"/>
                </a:solidFill>
                <a:latin typeface="Times New Roman" pitchFamily="34" charset="0"/>
                <a:ea typeface="Times New Roman" pitchFamily="34" charset="-122"/>
                <a:cs typeface="Times New Roman" pitchFamily="34" charset="-120"/>
              </a:rPr>
              <a:t>Computer vision transforms raw MRI scans into structured, analyzable data.</a:t>
            </a:r>
            <a:endParaRPr lang="en-US" sz="1500" dirty="0"/>
          </a:p>
        </p:txBody>
      </p:sp>
      <p:sp>
        <p:nvSpPr>
          <p:cNvPr id="7" name="Shape 4"/>
          <p:cNvSpPr/>
          <p:nvPr/>
        </p:nvSpPr>
        <p:spPr>
          <a:xfrm>
            <a:off x="4297680" y="1993392"/>
            <a:ext cx="219456" cy="219456"/>
          </a:xfrm>
          <a:prstGeom prst="ellipse">
            <a:avLst/>
          </a:prstGeom>
          <a:solidFill>
            <a:srgbClr val="2FB8A6"/>
          </a:solidFill>
          <a:ln/>
        </p:spPr>
        <p:txBody>
          <a:bodyPr/>
          <a:lstStyle/>
          <a:p>
            <a:endParaRPr lang="en-US"/>
          </a:p>
        </p:txBody>
      </p:sp>
      <p:sp>
        <p:nvSpPr>
          <p:cNvPr id="8" name="Text 5"/>
          <p:cNvSpPr/>
          <p:nvPr/>
        </p:nvSpPr>
        <p:spPr>
          <a:xfrm>
            <a:off x="4700016" y="1901952"/>
            <a:ext cx="6766560" cy="530352"/>
          </a:xfrm>
          <a:prstGeom prst="rect">
            <a:avLst/>
          </a:prstGeom>
          <a:noFill/>
          <a:ln/>
        </p:spPr>
        <p:txBody>
          <a:bodyPr wrap="square" rtlCol="0" anchor="t"/>
          <a:lstStyle/>
          <a:p>
            <a:pPr marL="0" indent="0">
              <a:lnSpc>
                <a:spcPct val="115000"/>
              </a:lnSpc>
              <a:buNone/>
            </a:pPr>
            <a:r>
              <a:rPr lang="en-US" sz="1500" dirty="0">
                <a:solidFill>
                  <a:srgbClr val="DCE6EE"/>
                </a:solidFill>
                <a:latin typeface="Times New Roman" pitchFamily="34" charset="0"/>
                <a:ea typeface="Times New Roman" pitchFamily="34" charset="-122"/>
                <a:cs typeface="Times New Roman" pitchFamily="34" charset="-120"/>
              </a:rPr>
              <a:t>Understanding image formation clarifies exactly what the AI model is interpreting.</a:t>
            </a:r>
            <a:endParaRPr lang="en-US" sz="1500" dirty="0"/>
          </a:p>
        </p:txBody>
      </p:sp>
      <p:sp>
        <p:nvSpPr>
          <p:cNvPr id="9" name="Shape 6"/>
          <p:cNvSpPr/>
          <p:nvPr/>
        </p:nvSpPr>
        <p:spPr>
          <a:xfrm>
            <a:off x="4297680" y="2596896"/>
            <a:ext cx="219456" cy="219456"/>
          </a:xfrm>
          <a:prstGeom prst="ellipse">
            <a:avLst/>
          </a:prstGeom>
          <a:solidFill>
            <a:srgbClr val="2FB8A6"/>
          </a:solidFill>
          <a:ln/>
        </p:spPr>
        <p:txBody>
          <a:bodyPr/>
          <a:lstStyle/>
          <a:p>
            <a:endParaRPr lang="en-US"/>
          </a:p>
        </p:txBody>
      </p:sp>
      <p:sp>
        <p:nvSpPr>
          <p:cNvPr id="10" name="Text 7"/>
          <p:cNvSpPr/>
          <p:nvPr/>
        </p:nvSpPr>
        <p:spPr>
          <a:xfrm>
            <a:off x="4700016" y="2505456"/>
            <a:ext cx="6766560" cy="530352"/>
          </a:xfrm>
          <a:prstGeom prst="rect">
            <a:avLst/>
          </a:prstGeom>
          <a:noFill/>
          <a:ln/>
        </p:spPr>
        <p:txBody>
          <a:bodyPr wrap="square" rtlCol="0" anchor="t"/>
          <a:lstStyle/>
          <a:p>
            <a:pPr marL="0" indent="0">
              <a:lnSpc>
                <a:spcPct val="115000"/>
              </a:lnSpc>
              <a:buNone/>
            </a:pPr>
            <a:r>
              <a:rPr lang="en-US" sz="1500" dirty="0">
                <a:solidFill>
                  <a:srgbClr val="DCE6EE"/>
                </a:solidFill>
                <a:latin typeface="Times New Roman" pitchFamily="34" charset="0"/>
                <a:ea typeface="Times New Roman" pitchFamily="34" charset="-122"/>
                <a:cs typeface="Times New Roman" pitchFamily="34" charset="-120"/>
              </a:rPr>
              <a:t>AI enables faster, more accurate, and more consistent MRI-based diagnosis.</a:t>
            </a:r>
            <a:endParaRPr lang="en-US" sz="1500" dirty="0"/>
          </a:p>
        </p:txBody>
      </p:sp>
      <p:sp>
        <p:nvSpPr>
          <p:cNvPr id="11" name="Shape 8"/>
          <p:cNvSpPr/>
          <p:nvPr/>
        </p:nvSpPr>
        <p:spPr>
          <a:xfrm>
            <a:off x="4297680" y="3200400"/>
            <a:ext cx="219456" cy="219456"/>
          </a:xfrm>
          <a:prstGeom prst="ellipse">
            <a:avLst/>
          </a:prstGeom>
          <a:solidFill>
            <a:srgbClr val="2FB8A6"/>
          </a:solidFill>
          <a:ln/>
        </p:spPr>
        <p:txBody>
          <a:bodyPr/>
          <a:lstStyle/>
          <a:p>
            <a:endParaRPr lang="en-US"/>
          </a:p>
        </p:txBody>
      </p:sp>
      <p:sp>
        <p:nvSpPr>
          <p:cNvPr id="12" name="Text 9"/>
          <p:cNvSpPr/>
          <p:nvPr/>
        </p:nvSpPr>
        <p:spPr>
          <a:xfrm>
            <a:off x="4700016" y="3108960"/>
            <a:ext cx="6766560" cy="530352"/>
          </a:xfrm>
          <a:prstGeom prst="rect">
            <a:avLst/>
          </a:prstGeom>
          <a:noFill/>
          <a:ln/>
        </p:spPr>
        <p:txBody>
          <a:bodyPr wrap="square" rtlCol="0" anchor="t"/>
          <a:lstStyle/>
          <a:p>
            <a:pPr marL="0" indent="0">
              <a:lnSpc>
                <a:spcPct val="115000"/>
              </a:lnSpc>
              <a:buNone/>
            </a:pPr>
            <a:r>
              <a:rPr lang="en-US" sz="1500" dirty="0">
                <a:solidFill>
                  <a:srgbClr val="DCE6EE"/>
                </a:solidFill>
                <a:latin typeface="Times New Roman" pitchFamily="34" charset="0"/>
                <a:ea typeface="Times New Roman" pitchFamily="34" charset="-122"/>
                <a:cs typeface="Times New Roman" pitchFamily="34" charset="-120"/>
              </a:rPr>
              <a:t>Real applications span tumors, stroke, Alzheimer's, MS, orthopedics, and cancer.</a:t>
            </a:r>
            <a:endParaRPr lang="en-US" sz="1500" dirty="0"/>
          </a:p>
        </p:txBody>
      </p:sp>
      <p:sp>
        <p:nvSpPr>
          <p:cNvPr id="13" name="Shape 10"/>
          <p:cNvSpPr/>
          <p:nvPr/>
        </p:nvSpPr>
        <p:spPr>
          <a:xfrm>
            <a:off x="4297680" y="3803904"/>
            <a:ext cx="219456" cy="219456"/>
          </a:xfrm>
          <a:prstGeom prst="ellipse">
            <a:avLst/>
          </a:prstGeom>
          <a:solidFill>
            <a:srgbClr val="2FB8A6"/>
          </a:solidFill>
          <a:ln/>
        </p:spPr>
        <p:txBody>
          <a:bodyPr/>
          <a:lstStyle/>
          <a:p>
            <a:endParaRPr lang="en-US"/>
          </a:p>
        </p:txBody>
      </p:sp>
      <p:sp>
        <p:nvSpPr>
          <p:cNvPr id="14" name="Text 11"/>
          <p:cNvSpPr/>
          <p:nvPr/>
        </p:nvSpPr>
        <p:spPr>
          <a:xfrm>
            <a:off x="4700016" y="3712464"/>
            <a:ext cx="6766560" cy="530352"/>
          </a:xfrm>
          <a:prstGeom prst="rect">
            <a:avLst/>
          </a:prstGeom>
          <a:noFill/>
          <a:ln/>
        </p:spPr>
        <p:txBody>
          <a:bodyPr wrap="square" rtlCol="0" anchor="t"/>
          <a:lstStyle/>
          <a:p>
            <a:pPr marL="0" indent="0">
              <a:lnSpc>
                <a:spcPct val="115000"/>
              </a:lnSpc>
              <a:buNone/>
            </a:pPr>
            <a:r>
              <a:rPr lang="en-US" sz="1500" dirty="0">
                <a:solidFill>
                  <a:srgbClr val="DCE6EE"/>
                </a:solidFill>
                <a:latin typeface="Times New Roman" pitchFamily="34" charset="0"/>
                <a:ea typeface="Times New Roman" pitchFamily="34" charset="-122"/>
                <a:cs typeface="Times New Roman" pitchFamily="34" charset="-120"/>
              </a:rPr>
              <a:t>AI supports doctors — it enhances clinical decisions, not replaces them.</a:t>
            </a:r>
            <a:endParaRPr lang="en-US" sz="1500" dirty="0"/>
          </a:p>
        </p:txBody>
      </p:sp>
      <p:sp>
        <p:nvSpPr>
          <p:cNvPr id="15" name="Shape 12"/>
          <p:cNvSpPr/>
          <p:nvPr/>
        </p:nvSpPr>
        <p:spPr>
          <a:xfrm>
            <a:off x="4297680" y="4572000"/>
            <a:ext cx="7223760" cy="1417320"/>
          </a:xfrm>
          <a:prstGeom prst="roundRect">
            <a:avLst>
              <a:gd name="adj" fmla="val 6452"/>
            </a:avLst>
          </a:prstGeom>
          <a:solidFill>
            <a:srgbClr val="0F3352"/>
          </a:solidFill>
          <a:ln w="12700">
            <a:solidFill>
              <a:srgbClr val="3E7FB0"/>
            </a:solidFill>
            <a:prstDash val="solid"/>
          </a:ln>
        </p:spPr>
        <p:txBody>
          <a:bodyPr/>
          <a:lstStyle/>
          <a:p>
            <a:endParaRPr lang="en-US"/>
          </a:p>
        </p:txBody>
      </p:sp>
      <p:sp>
        <p:nvSpPr>
          <p:cNvPr id="16" name="Text 13"/>
          <p:cNvSpPr/>
          <p:nvPr/>
        </p:nvSpPr>
        <p:spPr>
          <a:xfrm>
            <a:off x="4572000" y="4718304"/>
            <a:ext cx="6675120" cy="1115568"/>
          </a:xfrm>
          <a:prstGeom prst="rect">
            <a:avLst/>
          </a:prstGeom>
          <a:noFill/>
          <a:ln/>
        </p:spPr>
        <p:txBody>
          <a:bodyPr wrap="square" rtlCol="0" anchor="ctr"/>
          <a:lstStyle/>
          <a:p>
            <a:pPr marL="0" indent="0" algn="l">
              <a:lnSpc>
                <a:spcPct val="120000"/>
              </a:lnSpc>
              <a:buNone/>
            </a:pPr>
            <a:r>
              <a:rPr lang="en-US" sz="1900" b="1" i="1" dirty="0">
                <a:solidFill>
                  <a:srgbClr val="FFFFFF"/>
                </a:solidFill>
                <a:latin typeface="Times New Roman" pitchFamily="34" charset="0"/>
                <a:ea typeface="Times New Roman" pitchFamily="34" charset="-122"/>
                <a:cs typeface="Times New Roman" pitchFamily="34" charset="-120"/>
              </a:rPr>
              <a:t>“AI assists doctors in making better decisions, leading to improved patient care.”</a:t>
            </a:r>
            <a:endParaRPr lang="en-US" sz="1900" dirty="0"/>
          </a:p>
        </p:txBody>
      </p:sp>
      <p:pic>
        <p:nvPicPr>
          <p:cNvPr id="18" name="Picture 17" descr="8 Open source medical image libraries for computer vision projects | by DataMD | Medium">
            <a:extLst>
              <a:ext uri="{FF2B5EF4-FFF2-40B4-BE49-F238E27FC236}">
                <a16:creationId xmlns:a16="http://schemas.microsoft.com/office/drawing/2014/main" id="{75EDFC48-5319-CEA0-DCE0-439C3B6C27B9}"/>
              </a:ext>
            </a:extLst>
          </p:cNvPr>
          <p:cNvPicPr>
            <a:picLocks noChangeAspect="1"/>
          </p:cNvPicPr>
          <p:nvPr/>
        </p:nvPicPr>
        <p:blipFill>
          <a:blip r:embed="rId3"/>
          <a:srcRect r="45455"/>
          <a:stretch>
            <a:fillRect/>
          </a:stretch>
        </p:blipFill>
        <p:spPr>
          <a:xfrm>
            <a:off x="176466" y="1376715"/>
            <a:ext cx="3664014" cy="3628874"/>
          </a:xfrm>
          <a:prstGeom prst="rect">
            <a:avLst/>
          </a:prstGeom>
          <a:ln>
            <a:solidFill>
              <a:schemeClr val="bg2"/>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552CD43-596E-73C1-0BD7-08CD7F37DEA7}"/>
              </a:ext>
            </a:extLst>
          </p:cNvPr>
          <p:cNvPicPr>
            <a:picLocks noChangeAspect="1"/>
          </p:cNvPicPr>
          <p:nvPr/>
        </p:nvPicPr>
        <p:blipFill>
          <a:blip r:embed="rId2"/>
          <a:stretch>
            <a:fillRect/>
          </a:stretch>
        </p:blipFill>
        <p:spPr>
          <a:xfrm>
            <a:off x="2835667" y="1510301"/>
            <a:ext cx="6380252" cy="4587411"/>
          </a:xfrm>
          <a:prstGeom prst="rect">
            <a:avLst/>
          </a:prstGeom>
        </p:spPr>
      </p:pic>
      <p:sp>
        <p:nvSpPr>
          <p:cNvPr id="6" name="TextBox 5">
            <a:extLst>
              <a:ext uri="{FF2B5EF4-FFF2-40B4-BE49-F238E27FC236}">
                <a16:creationId xmlns:a16="http://schemas.microsoft.com/office/drawing/2014/main" id="{FB22D7C9-F1FF-D9CC-6716-3802DF83BBAF}"/>
              </a:ext>
            </a:extLst>
          </p:cNvPr>
          <p:cNvSpPr txBox="1"/>
          <p:nvPr/>
        </p:nvSpPr>
        <p:spPr>
          <a:xfrm>
            <a:off x="3308279" y="246580"/>
            <a:ext cx="4643919" cy="584775"/>
          </a:xfrm>
          <a:prstGeom prst="rect">
            <a:avLst/>
          </a:prstGeom>
          <a:noFill/>
        </p:spPr>
        <p:txBody>
          <a:bodyPr wrap="square" rtlCol="0">
            <a:spAutoFit/>
          </a:bodyPr>
          <a:lstStyle/>
          <a:p>
            <a:pPr algn="ctr"/>
            <a:r>
              <a:rPr lang="en-US" sz="3200" dirty="0">
                <a:solidFill>
                  <a:srgbClr val="FF0000"/>
                </a:solidFill>
                <a:latin typeface="Times New Roman" panose="02020603050405020304" pitchFamily="18" charset="0"/>
                <a:cs typeface="Times New Roman" panose="02020603050405020304" pitchFamily="18" charset="0"/>
              </a:rPr>
              <a:t>Geotag photo</a:t>
            </a:r>
          </a:p>
        </p:txBody>
      </p:sp>
    </p:spTree>
    <p:extLst>
      <p:ext uri="{BB962C8B-B14F-4D97-AF65-F5344CB8AC3E}">
        <p14:creationId xmlns:p14="http://schemas.microsoft.com/office/powerpoint/2010/main" val="2680869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lat Thank You Slide Template for PowerPoint">
            <a:extLst>
              <a:ext uri="{FF2B5EF4-FFF2-40B4-BE49-F238E27FC236}">
                <a16:creationId xmlns:a16="http://schemas.microsoft.com/office/drawing/2014/main" id="{1319B9DF-3FA4-D9E1-8F6D-15629AF808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98596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110</TotalTime>
  <Words>1914</Words>
  <Application>Microsoft Office PowerPoint</Application>
  <PresentationFormat>Widescreen</PresentationFormat>
  <Paragraphs>172</Paragraphs>
  <Slides>10</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SHANNU KARANAM</cp:lastModifiedBy>
  <cp:revision>26</cp:revision>
  <dcterms:created xsi:type="dcterms:W3CDTF">2026-07-16T01:42:35Z</dcterms:created>
  <dcterms:modified xsi:type="dcterms:W3CDTF">2026-07-16T04:45:24Z</dcterms:modified>
</cp:coreProperties>
</file>